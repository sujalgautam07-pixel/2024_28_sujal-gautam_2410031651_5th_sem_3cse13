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9692640" y="-1463040"/>
            <a:ext cx="4754880" cy="4754880"/>
          </a:xfrm>
          <a:prstGeom prst="ellipse">
            <a:avLst/>
          </a:prstGeom>
          <a:solidFill>
            <a:srgbClr val="161C4A"/>
          </a:solidFill>
          <a:ln/>
        </p:spPr>
      </p:sp>
      <p:sp>
        <p:nvSpPr>
          <p:cNvPr id="3" name="Shape 1"/>
          <p:cNvSpPr/>
          <p:nvPr/>
        </p:nvSpPr>
        <p:spPr>
          <a:xfrm>
            <a:off x="10607040" y="4206240"/>
            <a:ext cx="3840480" cy="3840480"/>
          </a:xfrm>
          <a:prstGeom prst="ellipse">
            <a:avLst/>
          </a:prstGeom>
          <a:solidFill>
            <a:srgbClr val="161C4A"/>
          </a:solidFill>
          <a:ln/>
        </p:spPr>
      </p:sp>
      <p:sp>
        <p:nvSpPr>
          <p:cNvPr id="4" name="Text 2"/>
          <p:cNvSpPr/>
          <p:nvPr/>
        </p:nvSpPr>
        <p:spPr>
          <a:xfrm>
            <a:off x="640080" y="502920"/>
            <a:ext cx="7315200" cy="365760"/>
          </a:xfrm>
          <a:prstGeom prst="rect">
            <a:avLst/>
          </a:prstGeom>
          <a:noFill/>
          <a:ln/>
        </p:spPr>
        <p:txBody>
          <a:bodyPr wrap="square" lIns="0" tIns="0" rIns="0" bIns="0" rtlCol="0" anchor="ctr"/>
          <a:lstStyle/>
          <a:p>
            <a:pPr indent="0" marL="0">
              <a:buNone/>
            </a:pPr>
            <a:r>
              <a:rPr lang="en-US" sz="1300" b="1" spc="100" kern="0" dirty="0">
                <a:solidFill>
                  <a:srgbClr val="CADCFC"/>
                </a:solidFill>
                <a:latin typeface="Calibri" pitchFamily="34" charset="0"/>
                <a:ea typeface="Calibri" pitchFamily="34" charset="-122"/>
                <a:cs typeface="Calibri" pitchFamily="34" charset="-120"/>
              </a:rPr>
              <a:t>IILM UNIVERSITY, GREATER NOIDA</a:t>
            </a:r>
            <a:endParaRPr lang="en-US" sz="1300" dirty="0"/>
          </a:p>
        </p:txBody>
      </p:sp>
      <p:sp>
        <p:nvSpPr>
          <p:cNvPr id="5" name="Text 3"/>
          <p:cNvSpPr/>
          <p:nvPr/>
        </p:nvSpPr>
        <p:spPr>
          <a:xfrm>
            <a:off x="640080" y="1965960"/>
            <a:ext cx="7315200" cy="320040"/>
          </a:xfrm>
          <a:prstGeom prst="rect">
            <a:avLst/>
          </a:prstGeom>
          <a:noFill/>
          <a:ln/>
        </p:spPr>
        <p:txBody>
          <a:bodyPr wrap="square" lIns="0" tIns="0" rIns="0" bIns="0" rtlCol="0" anchor="ctr"/>
          <a:lstStyle/>
          <a:p>
            <a:pPr indent="0" marL="0">
              <a:buNone/>
            </a:pPr>
            <a:r>
              <a:rPr lang="en-US" sz="1200" b="1" spc="200" kern="0" dirty="0">
                <a:solidFill>
                  <a:srgbClr val="E0A82E"/>
                </a:solidFill>
                <a:latin typeface="Calibri" pitchFamily="34" charset="0"/>
                <a:ea typeface="Calibri" pitchFamily="34" charset="-122"/>
                <a:cs typeface="Calibri" pitchFamily="34" charset="-120"/>
              </a:rPr>
              <a:t>INTERNSHIP REPORT PRESENTATION</a:t>
            </a:r>
            <a:endParaRPr lang="en-US" sz="1200" dirty="0"/>
          </a:p>
        </p:txBody>
      </p:sp>
      <p:sp>
        <p:nvSpPr>
          <p:cNvPr id="6" name="Text 4"/>
          <p:cNvSpPr/>
          <p:nvPr/>
        </p:nvSpPr>
        <p:spPr>
          <a:xfrm>
            <a:off x="621792" y="2286000"/>
            <a:ext cx="8686800" cy="86868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Python Full Stack</a:t>
            </a:r>
            <a:endParaRPr lang="en-US" sz="4600" dirty="0"/>
          </a:p>
        </p:txBody>
      </p:sp>
      <p:sp>
        <p:nvSpPr>
          <p:cNvPr id="7" name="Text 5"/>
          <p:cNvSpPr/>
          <p:nvPr/>
        </p:nvSpPr>
        <p:spPr>
          <a:xfrm>
            <a:off x="640080" y="3063240"/>
            <a:ext cx="8686800" cy="640080"/>
          </a:xfrm>
          <a:prstGeom prst="rect">
            <a:avLst/>
          </a:prstGeom>
          <a:noFill/>
          <a:ln/>
        </p:spPr>
        <p:txBody>
          <a:bodyPr wrap="square" lIns="0" tIns="0" rIns="0" bIns="0" rtlCol="0" anchor="ctr"/>
          <a:lstStyle/>
          <a:p>
            <a:pPr indent="0" marL="0">
              <a:buNone/>
            </a:pPr>
            <a:r>
              <a:rPr lang="en-US" sz="3000" dirty="0">
                <a:solidFill>
                  <a:srgbClr val="CADCFC"/>
                </a:solidFill>
                <a:latin typeface="Cambria" pitchFamily="34" charset="0"/>
                <a:ea typeface="Cambria" pitchFamily="34" charset="-122"/>
                <a:cs typeface="Cambria" pitchFamily="34" charset="-120"/>
              </a:rPr>
              <a:t>Development With Project</a:t>
            </a:r>
            <a:endParaRPr lang="en-US" sz="3000" dirty="0"/>
          </a:p>
        </p:txBody>
      </p:sp>
      <p:sp>
        <p:nvSpPr>
          <p:cNvPr id="8" name="Text 6"/>
          <p:cNvSpPr/>
          <p:nvPr/>
        </p:nvSpPr>
        <p:spPr>
          <a:xfrm>
            <a:off x="640080" y="3886200"/>
            <a:ext cx="8229600" cy="36576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AICTE – EduSkills Virtual Internship Program</a:t>
            </a:r>
            <a:endParaRPr lang="en-US" sz="1400" dirty="0"/>
          </a:p>
        </p:txBody>
      </p:sp>
      <p:sp>
        <p:nvSpPr>
          <p:cNvPr id="9" name="Shape 7"/>
          <p:cNvSpPr/>
          <p:nvPr/>
        </p:nvSpPr>
        <p:spPr>
          <a:xfrm>
            <a:off x="640080" y="4526280"/>
            <a:ext cx="1463040" cy="0"/>
          </a:xfrm>
          <a:prstGeom prst="line">
            <a:avLst/>
          </a:prstGeom>
          <a:noFill/>
          <a:ln w="25400">
            <a:solidFill>
              <a:srgbClr val="E0A82E"/>
            </a:solidFill>
            <a:prstDash val="solid"/>
          </a:ln>
        </p:spPr>
      </p:sp>
      <p:sp>
        <p:nvSpPr>
          <p:cNvPr id="10" name="Text 8"/>
          <p:cNvSpPr/>
          <p:nvPr/>
        </p:nvSpPr>
        <p:spPr>
          <a:xfrm>
            <a:off x="640080" y="4709160"/>
            <a:ext cx="5486400" cy="36576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Sujal Gautam</a:t>
            </a:r>
            <a:endParaRPr lang="en-US" sz="1800" dirty="0"/>
          </a:p>
        </p:txBody>
      </p:sp>
      <p:sp>
        <p:nvSpPr>
          <p:cNvPr id="11" name="Text 9"/>
          <p:cNvSpPr/>
          <p:nvPr/>
        </p:nvSpPr>
        <p:spPr>
          <a:xfrm>
            <a:off x="640080" y="5102352"/>
            <a:ext cx="5486400" cy="27432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Roll No. 2410031651  |  B.Tech CSE</a:t>
            </a:r>
            <a:endParaRPr lang="en-US" sz="1200" dirty="0"/>
          </a:p>
        </p:txBody>
      </p:sp>
      <p:sp>
        <p:nvSpPr>
          <p:cNvPr id="12" name="Text 10"/>
          <p:cNvSpPr/>
          <p:nvPr/>
        </p:nvSpPr>
        <p:spPr>
          <a:xfrm>
            <a:off x="640080" y="5349240"/>
            <a:ext cx="5486400" cy="27432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June – August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931920" cy="6858000"/>
          </a:xfrm>
          <a:prstGeom prst="rect">
            <a:avLst/>
          </a:prstGeom>
          <a:solidFill>
            <a:srgbClr val="1E2761"/>
          </a:solidFill>
          <a:ln/>
        </p:spPr>
      </p:sp>
      <p:sp>
        <p:nvSpPr>
          <p:cNvPr id="3" name="Shape 1"/>
          <p:cNvSpPr/>
          <p:nvPr/>
        </p:nvSpPr>
        <p:spPr>
          <a:xfrm>
            <a:off x="-1097280" y="5120640"/>
            <a:ext cx="3840480" cy="3840480"/>
          </a:xfrm>
          <a:prstGeom prst="ellipse">
            <a:avLst/>
          </a:prstGeom>
          <a:solidFill>
            <a:srgbClr val="161C4A"/>
          </a:solidFill>
          <a:ln/>
        </p:spPr>
      </p:sp>
      <p:sp>
        <p:nvSpPr>
          <p:cNvPr id="4" name="Shape 2"/>
          <p:cNvSpPr/>
          <p:nvPr/>
        </p:nvSpPr>
        <p:spPr>
          <a:xfrm>
            <a:off x="1417320" y="1051560"/>
            <a:ext cx="1097280" cy="1097280"/>
          </a:xfrm>
          <a:prstGeom prst="ellipse">
            <a:avLst/>
          </a:prstGeom>
          <a:solidFill>
            <a:srgbClr val="161C4A"/>
          </a:solidFill>
          <a:ln/>
        </p:spPr>
      </p:sp>
      <p:sp>
        <p:nvSpPr>
          <p:cNvPr id="5" name="Text 3"/>
          <p:cNvSpPr/>
          <p:nvPr/>
        </p:nvSpPr>
        <p:spPr>
          <a:xfrm>
            <a:off x="1417320" y="1051560"/>
            <a:ext cx="1097280" cy="1097280"/>
          </a:xfrm>
          <a:prstGeom prst="rect">
            <a:avLst/>
          </a:prstGeom>
          <a:noFill/>
          <a:ln/>
        </p:spPr>
        <p:txBody>
          <a:bodyPr wrap="square" lIns="0" tIns="0" rIns="0" bIns="0" rtlCol="0" anchor="ctr"/>
          <a:lstStyle/>
          <a:p>
            <a:pPr algn="ctr" indent="0" marL="0">
              <a:buNone/>
            </a:pPr>
            <a:r>
              <a:rPr lang="en-US" sz="3000" dirty="0">
                <a:solidFill>
                  <a:srgbClr val="000000"/>
                </a:solidFill>
              </a:rPr>
              <a:t>🎓</a:t>
            </a:r>
            <a:endParaRPr lang="en-US" sz="3000" dirty="0"/>
          </a:p>
        </p:txBody>
      </p:sp>
      <p:sp>
        <p:nvSpPr>
          <p:cNvPr id="6" name="Text 4"/>
          <p:cNvSpPr/>
          <p:nvPr/>
        </p:nvSpPr>
        <p:spPr>
          <a:xfrm>
            <a:off x="365760" y="2468880"/>
            <a:ext cx="3200400" cy="100584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Sujal</a:t>
            </a:r>
            <a:endParaRPr lang="en-US" sz="2600" dirty="0"/>
          </a:p>
          <a:p>
            <a:pPr algn="ctr" indent="0" marL="0">
              <a:buNone/>
            </a:pPr>
            <a:r>
              <a:rPr lang="en-US" sz="2600" b="1" dirty="0">
                <a:solidFill>
                  <a:srgbClr val="FFFFFF"/>
                </a:solidFill>
                <a:latin typeface="Cambria" pitchFamily="34" charset="0"/>
                <a:ea typeface="Cambria" pitchFamily="34" charset="-122"/>
                <a:cs typeface="Cambria" pitchFamily="34" charset="-120"/>
              </a:rPr>
              <a:t>Gautam</a:t>
            </a:r>
            <a:endParaRPr lang="en-US" sz="2600" dirty="0"/>
          </a:p>
        </p:txBody>
      </p:sp>
      <p:sp>
        <p:nvSpPr>
          <p:cNvPr id="7" name="Text 5"/>
          <p:cNvSpPr/>
          <p:nvPr/>
        </p:nvSpPr>
        <p:spPr>
          <a:xfrm>
            <a:off x="365760" y="3520440"/>
            <a:ext cx="3200400" cy="457200"/>
          </a:xfrm>
          <a:prstGeom prst="rect">
            <a:avLst/>
          </a:prstGeom>
          <a:noFill/>
          <a:ln/>
        </p:spPr>
        <p:txBody>
          <a:bodyPr wrap="square" lIns="0" tIns="0" rIns="0" bIns="0" rtlCol="0" anchor="ctr"/>
          <a:lstStyle/>
          <a:p>
            <a:pPr algn="ctr" indent="0" marL="0">
              <a:buNone/>
            </a:pPr>
            <a:r>
              <a:rPr lang="en-US" sz="1200" dirty="0">
                <a:solidFill>
                  <a:srgbClr val="CADCFC"/>
                </a:solidFill>
                <a:latin typeface="Calibri" pitchFamily="34" charset="0"/>
                <a:ea typeface="Calibri" pitchFamily="34" charset="-122"/>
                <a:cs typeface="Calibri" pitchFamily="34" charset="-120"/>
              </a:rPr>
              <a:t>B.Tech – Computer Science &amp; Engineering</a:t>
            </a:r>
            <a:endParaRPr lang="en-US" sz="1200" dirty="0"/>
          </a:p>
        </p:txBody>
      </p:sp>
      <p:sp>
        <p:nvSpPr>
          <p:cNvPr id="8" name="Text 6"/>
          <p:cNvSpPr/>
          <p:nvPr/>
        </p:nvSpPr>
        <p:spPr>
          <a:xfrm>
            <a:off x="640080" y="457200"/>
            <a:ext cx="7315200" cy="320040"/>
          </a:xfrm>
          <a:prstGeom prst="rect">
            <a:avLst/>
          </a:prstGeom>
          <a:noFill/>
          <a:ln/>
        </p:spPr>
        <p:txBody>
          <a:bodyPr wrap="square" lIns="0" tIns="0" rIns="0" bIns="0" rtlCol="0" anchor="ctr"/>
          <a:lstStyle/>
          <a:p>
            <a:pPr indent="0" marL="0">
              <a:buNone/>
            </a:pPr>
            <a:r>
              <a:rPr lang="en-US" sz="1200" b="1" spc="200" kern="0" dirty="0">
                <a:solidFill>
                  <a:srgbClr val="E0A82E"/>
                </a:solidFill>
                <a:latin typeface="Calibri" pitchFamily="34" charset="0"/>
                <a:ea typeface="Calibri" pitchFamily="34" charset="-122"/>
                <a:cs typeface="Calibri" pitchFamily="34" charset="-120"/>
              </a:rPr>
              <a:t>ABOUT THE STUDENT</a:t>
            </a:r>
            <a:endParaRPr lang="en-US" sz="1200" dirty="0"/>
          </a:p>
        </p:txBody>
      </p:sp>
      <p:sp>
        <p:nvSpPr>
          <p:cNvPr id="9" name="Text 7"/>
          <p:cNvSpPr/>
          <p:nvPr/>
        </p:nvSpPr>
        <p:spPr>
          <a:xfrm>
            <a:off x="4434840" y="749808"/>
            <a:ext cx="7132320" cy="640080"/>
          </a:xfrm>
          <a:prstGeom prst="rect">
            <a:avLst/>
          </a:prstGeom>
          <a:noFill/>
          <a:ln/>
        </p:spPr>
        <p:txBody>
          <a:bodyPr wrap="square" lIns="0" tIns="0" rIns="0" bIns="0" rtlCol="0" anchor="ctr"/>
          <a:lstStyle/>
          <a:p>
            <a:pPr indent="0" marL="0">
              <a:buNone/>
            </a:pPr>
            <a:r>
              <a:rPr lang="en-US" sz="3000" b="1" dirty="0">
                <a:solidFill>
                  <a:srgbClr val="1B1F3B"/>
                </a:solidFill>
                <a:latin typeface="Cambria" pitchFamily="34" charset="0"/>
                <a:ea typeface="Cambria" pitchFamily="34" charset="-122"/>
                <a:cs typeface="Cambria" pitchFamily="34" charset="-120"/>
              </a:rPr>
              <a:t>Candidate Profile</a:t>
            </a:r>
            <a:endParaRPr lang="en-US" sz="3000" dirty="0"/>
          </a:p>
        </p:txBody>
      </p:sp>
      <p:sp>
        <p:nvSpPr>
          <p:cNvPr id="10" name="Shape 8"/>
          <p:cNvSpPr/>
          <p:nvPr/>
        </p:nvSpPr>
        <p:spPr>
          <a:xfrm>
            <a:off x="4434840" y="1600200"/>
            <a:ext cx="457200" cy="457200"/>
          </a:xfrm>
          <a:prstGeom prst="ellipse">
            <a:avLst/>
          </a:prstGeom>
          <a:solidFill>
            <a:srgbClr val="CADCFC"/>
          </a:solidFill>
          <a:ln/>
        </p:spPr>
      </p:sp>
      <p:sp>
        <p:nvSpPr>
          <p:cNvPr id="11" name="Text 9"/>
          <p:cNvSpPr/>
          <p:nvPr/>
        </p:nvSpPr>
        <p:spPr>
          <a:xfrm>
            <a:off x="5120640" y="1572768"/>
            <a:ext cx="6309360" cy="256032"/>
          </a:xfrm>
          <a:prstGeom prst="rect">
            <a:avLst/>
          </a:prstGeom>
          <a:noFill/>
          <a:ln/>
        </p:spPr>
        <p:txBody>
          <a:bodyPr wrap="square" lIns="0" tIns="0" rIns="0" bIns="0" rtlCol="0" anchor="ctr"/>
          <a:lstStyle/>
          <a:p>
            <a:pPr indent="0" marL="0">
              <a:buNone/>
            </a:pPr>
            <a:r>
              <a:rPr lang="en-US" sz="1100" b="1" dirty="0">
                <a:solidFill>
                  <a:srgbClr val="E0A82E"/>
                </a:solidFill>
                <a:latin typeface="Calibri" pitchFamily="34" charset="0"/>
                <a:ea typeface="Calibri" pitchFamily="34" charset="-122"/>
                <a:cs typeface="Calibri" pitchFamily="34" charset="-120"/>
              </a:rPr>
              <a:t>Roll Number</a:t>
            </a:r>
            <a:endParaRPr lang="en-US" sz="1100" dirty="0"/>
          </a:p>
        </p:txBody>
      </p:sp>
      <p:sp>
        <p:nvSpPr>
          <p:cNvPr id="12" name="Text 10"/>
          <p:cNvSpPr/>
          <p:nvPr/>
        </p:nvSpPr>
        <p:spPr>
          <a:xfrm>
            <a:off x="5120640" y="1801368"/>
            <a:ext cx="6309360" cy="320040"/>
          </a:xfrm>
          <a:prstGeom prst="rect">
            <a:avLst/>
          </a:prstGeom>
          <a:noFill/>
          <a:ln/>
        </p:spPr>
        <p:txBody>
          <a:bodyPr wrap="square" lIns="0" tIns="0" rIns="0" bIns="0" rtlCol="0" anchor="ctr"/>
          <a:lstStyle/>
          <a:p>
            <a:pPr indent="0" marL="0">
              <a:buNone/>
            </a:pPr>
            <a:r>
              <a:rPr lang="en-US" sz="1500" dirty="0">
                <a:solidFill>
                  <a:srgbClr val="1B1F3B"/>
                </a:solidFill>
                <a:latin typeface="Calibri" pitchFamily="34" charset="0"/>
                <a:ea typeface="Calibri" pitchFamily="34" charset="-122"/>
                <a:cs typeface="Calibri" pitchFamily="34" charset="-120"/>
              </a:rPr>
              <a:t>2410031651</a:t>
            </a:r>
            <a:endParaRPr lang="en-US" sz="1500" dirty="0"/>
          </a:p>
        </p:txBody>
      </p:sp>
      <p:sp>
        <p:nvSpPr>
          <p:cNvPr id="13" name="Shape 11"/>
          <p:cNvSpPr/>
          <p:nvPr/>
        </p:nvSpPr>
        <p:spPr>
          <a:xfrm>
            <a:off x="4434840" y="2468880"/>
            <a:ext cx="457200" cy="457200"/>
          </a:xfrm>
          <a:prstGeom prst="ellipse">
            <a:avLst/>
          </a:prstGeom>
          <a:solidFill>
            <a:srgbClr val="CADCFC"/>
          </a:solidFill>
          <a:ln/>
        </p:spPr>
      </p:sp>
      <p:sp>
        <p:nvSpPr>
          <p:cNvPr id="14" name="Text 12"/>
          <p:cNvSpPr/>
          <p:nvPr/>
        </p:nvSpPr>
        <p:spPr>
          <a:xfrm>
            <a:off x="5120640" y="2441448"/>
            <a:ext cx="6309360" cy="256032"/>
          </a:xfrm>
          <a:prstGeom prst="rect">
            <a:avLst/>
          </a:prstGeom>
          <a:noFill/>
          <a:ln/>
        </p:spPr>
        <p:txBody>
          <a:bodyPr wrap="square" lIns="0" tIns="0" rIns="0" bIns="0" rtlCol="0" anchor="ctr"/>
          <a:lstStyle/>
          <a:p>
            <a:pPr indent="0" marL="0">
              <a:buNone/>
            </a:pPr>
            <a:r>
              <a:rPr lang="en-US" sz="1100" b="1" dirty="0">
                <a:solidFill>
                  <a:srgbClr val="E0A82E"/>
                </a:solidFill>
                <a:latin typeface="Calibri" pitchFamily="34" charset="0"/>
                <a:ea typeface="Calibri" pitchFamily="34" charset="-122"/>
                <a:cs typeface="Calibri" pitchFamily="34" charset="-120"/>
              </a:rPr>
              <a:t>Institute</a:t>
            </a:r>
            <a:endParaRPr lang="en-US" sz="1100" dirty="0"/>
          </a:p>
        </p:txBody>
      </p:sp>
      <p:sp>
        <p:nvSpPr>
          <p:cNvPr id="15" name="Text 13"/>
          <p:cNvSpPr/>
          <p:nvPr/>
        </p:nvSpPr>
        <p:spPr>
          <a:xfrm>
            <a:off x="5120640" y="2670048"/>
            <a:ext cx="6309360" cy="320040"/>
          </a:xfrm>
          <a:prstGeom prst="rect">
            <a:avLst/>
          </a:prstGeom>
          <a:noFill/>
          <a:ln/>
        </p:spPr>
        <p:txBody>
          <a:bodyPr wrap="square" lIns="0" tIns="0" rIns="0" bIns="0" rtlCol="0" anchor="ctr"/>
          <a:lstStyle/>
          <a:p>
            <a:pPr indent="0" marL="0">
              <a:buNone/>
            </a:pPr>
            <a:r>
              <a:rPr lang="en-US" sz="1500" dirty="0">
                <a:solidFill>
                  <a:srgbClr val="1B1F3B"/>
                </a:solidFill>
                <a:latin typeface="Calibri" pitchFamily="34" charset="0"/>
                <a:ea typeface="Calibri" pitchFamily="34" charset="-122"/>
                <a:cs typeface="Calibri" pitchFamily="34" charset="-120"/>
              </a:rPr>
              <a:t>IILM University, Greater Noida, U.P.</a:t>
            </a:r>
            <a:endParaRPr lang="en-US" sz="1500" dirty="0"/>
          </a:p>
        </p:txBody>
      </p:sp>
      <p:sp>
        <p:nvSpPr>
          <p:cNvPr id="16" name="Shape 14"/>
          <p:cNvSpPr/>
          <p:nvPr/>
        </p:nvSpPr>
        <p:spPr>
          <a:xfrm>
            <a:off x="4434840" y="3337560"/>
            <a:ext cx="457200" cy="457200"/>
          </a:xfrm>
          <a:prstGeom prst="ellipse">
            <a:avLst/>
          </a:prstGeom>
          <a:solidFill>
            <a:srgbClr val="CADCFC"/>
          </a:solidFill>
          <a:ln/>
        </p:spPr>
      </p:sp>
      <p:sp>
        <p:nvSpPr>
          <p:cNvPr id="17" name="Text 15"/>
          <p:cNvSpPr/>
          <p:nvPr/>
        </p:nvSpPr>
        <p:spPr>
          <a:xfrm>
            <a:off x="5120640" y="3310128"/>
            <a:ext cx="6309360" cy="256032"/>
          </a:xfrm>
          <a:prstGeom prst="rect">
            <a:avLst/>
          </a:prstGeom>
          <a:noFill/>
          <a:ln/>
        </p:spPr>
        <p:txBody>
          <a:bodyPr wrap="square" lIns="0" tIns="0" rIns="0" bIns="0" rtlCol="0" anchor="ctr"/>
          <a:lstStyle/>
          <a:p>
            <a:pPr indent="0" marL="0">
              <a:buNone/>
            </a:pPr>
            <a:r>
              <a:rPr lang="en-US" sz="1100" b="1" dirty="0">
                <a:solidFill>
                  <a:srgbClr val="E0A82E"/>
                </a:solidFill>
                <a:latin typeface="Calibri" pitchFamily="34" charset="0"/>
                <a:ea typeface="Calibri" pitchFamily="34" charset="-122"/>
                <a:cs typeface="Calibri" pitchFamily="34" charset="-120"/>
              </a:rPr>
              <a:t>Programme</a:t>
            </a:r>
            <a:endParaRPr lang="en-US" sz="1100" dirty="0"/>
          </a:p>
        </p:txBody>
      </p:sp>
      <p:sp>
        <p:nvSpPr>
          <p:cNvPr id="18" name="Text 16"/>
          <p:cNvSpPr/>
          <p:nvPr/>
        </p:nvSpPr>
        <p:spPr>
          <a:xfrm>
            <a:off x="5120640" y="3538728"/>
            <a:ext cx="6309360" cy="320040"/>
          </a:xfrm>
          <a:prstGeom prst="rect">
            <a:avLst/>
          </a:prstGeom>
          <a:noFill/>
          <a:ln/>
        </p:spPr>
        <p:txBody>
          <a:bodyPr wrap="square" lIns="0" tIns="0" rIns="0" bIns="0" rtlCol="0" anchor="ctr"/>
          <a:lstStyle/>
          <a:p>
            <a:pPr indent="0" marL="0">
              <a:buNone/>
            </a:pPr>
            <a:r>
              <a:rPr lang="en-US" sz="1500" dirty="0">
                <a:solidFill>
                  <a:srgbClr val="1B1F3B"/>
                </a:solidFill>
                <a:latin typeface="Calibri" pitchFamily="34" charset="0"/>
                <a:ea typeface="Calibri" pitchFamily="34" charset="-122"/>
                <a:cs typeface="Calibri" pitchFamily="34" charset="-120"/>
              </a:rPr>
              <a:t>B.Tech CSE, Batch 2024–2028</a:t>
            </a:r>
            <a:endParaRPr lang="en-US" sz="1500" dirty="0"/>
          </a:p>
        </p:txBody>
      </p:sp>
      <p:sp>
        <p:nvSpPr>
          <p:cNvPr id="19" name="Shape 17"/>
          <p:cNvSpPr/>
          <p:nvPr/>
        </p:nvSpPr>
        <p:spPr>
          <a:xfrm>
            <a:off x="4434840" y="4206240"/>
            <a:ext cx="457200" cy="457200"/>
          </a:xfrm>
          <a:prstGeom prst="ellipse">
            <a:avLst/>
          </a:prstGeom>
          <a:solidFill>
            <a:srgbClr val="CADCFC"/>
          </a:solidFill>
          <a:ln/>
        </p:spPr>
      </p:sp>
      <p:sp>
        <p:nvSpPr>
          <p:cNvPr id="20" name="Text 18"/>
          <p:cNvSpPr/>
          <p:nvPr/>
        </p:nvSpPr>
        <p:spPr>
          <a:xfrm>
            <a:off x="5120640" y="4178808"/>
            <a:ext cx="6309360" cy="256032"/>
          </a:xfrm>
          <a:prstGeom prst="rect">
            <a:avLst/>
          </a:prstGeom>
          <a:noFill/>
          <a:ln/>
        </p:spPr>
        <p:txBody>
          <a:bodyPr wrap="square" lIns="0" tIns="0" rIns="0" bIns="0" rtlCol="0" anchor="ctr"/>
          <a:lstStyle/>
          <a:p>
            <a:pPr indent="0" marL="0">
              <a:buNone/>
            </a:pPr>
            <a:r>
              <a:rPr lang="en-US" sz="1100" b="1" dirty="0">
                <a:solidFill>
                  <a:srgbClr val="E0A82E"/>
                </a:solidFill>
                <a:latin typeface="Calibri" pitchFamily="34" charset="0"/>
                <a:ea typeface="Calibri" pitchFamily="34" charset="-122"/>
                <a:cs typeface="Calibri" pitchFamily="34" charset="-120"/>
              </a:rPr>
              <a:t>Internship Domain</a:t>
            </a:r>
            <a:endParaRPr lang="en-US" sz="1100" dirty="0"/>
          </a:p>
        </p:txBody>
      </p:sp>
      <p:sp>
        <p:nvSpPr>
          <p:cNvPr id="21" name="Text 19"/>
          <p:cNvSpPr/>
          <p:nvPr/>
        </p:nvSpPr>
        <p:spPr>
          <a:xfrm>
            <a:off x="5120640" y="4407408"/>
            <a:ext cx="6309360" cy="320040"/>
          </a:xfrm>
          <a:prstGeom prst="rect">
            <a:avLst/>
          </a:prstGeom>
          <a:noFill/>
          <a:ln/>
        </p:spPr>
        <p:txBody>
          <a:bodyPr wrap="square" lIns="0" tIns="0" rIns="0" bIns="0" rtlCol="0" anchor="ctr"/>
          <a:lstStyle/>
          <a:p>
            <a:pPr indent="0" marL="0">
              <a:buNone/>
            </a:pPr>
            <a:r>
              <a:rPr lang="en-US" sz="1500" dirty="0">
                <a:solidFill>
                  <a:srgbClr val="1B1F3B"/>
                </a:solidFill>
                <a:latin typeface="Calibri" pitchFamily="34" charset="0"/>
                <a:ea typeface="Calibri" pitchFamily="34" charset="-122"/>
                <a:cs typeface="Calibri" pitchFamily="34" charset="-120"/>
              </a:rPr>
              <a:t>Python Full Stack Development With Project</a:t>
            </a:r>
            <a:endParaRPr lang="en-US" sz="1500" dirty="0"/>
          </a:p>
        </p:txBody>
      </p:sp>
      <p:sp>
        <p:nvSpPr>
          <p:cNvPr id="22" name="Shape 20"/>
          <p:cNvSpPr/>
          <p:nvPr/>
        </p:nvSpPr>
        <p:spPr>
          <a:xfrm>
            <a:off x="4434840" y="5074920"/>
            <a:ext cx="457200" cy="457200"/>
          </a:xfrm>
          <a:prstGeom prst="ellipse">
            <a:avLst/>
          </a:prstGeom>
          <a:solidFill>
            <a:srgbClr val="CADCFC"/>
          </a:solidFill>
          <a:ln/>
        </p:spPr>
      </p:sp>
      <p:sp>
        <p:nvSpPr>
          <p:cNvPr id="23" name="Text 21"/>
          <p:cNvSpPr/>
          <p:nvPr/>
        </p:nvSpPr>
        <p:spPr>
          <a:xfrm>
            <a:off x="5120640" y="5047488"/>
            <a:ext cx="6309360" cy="256032"/>
          </a:xfrm>
          <a:prstGeom prst="rect">
            <a:avLst/>
          </a:prstGeom>
          <a:noFill/>
          <a:ln/>
        </p:spPr>
        <p:txBody>
          <a:bodyPr wrap="square" lIns="0" tIns="0" rIns="0" bIns="0" rtlCol="0" anchor="ctr"/>
          <a:lstStyle/>
          <a:p>
            <a:pPr indent="0" marL="0">
              <a:buNone/>
            </a:pPr>
            <a:r>
              <a:rPr lang="en-US" sz="1100" b="1" dirty="0">
                <a:solidFill>
                  <a:srgbClr val="E0A82E"/>
                </a:solidFill>
                <a:latin typeface="Calibri" pitchFamily="34" charset="0"/>
                <a:ea typeface="Calibri" pitchFamily="34" charset="-122"/>
                <a:cs typeface="Calibri" pitchFamily="34" charset="-120"/>
              </a:rPr>
              <a:t>Duration</a:t>
            </a:r>
            <a:endParaRPr lang="en-US" sz="1100" dirty="0"/>
          </a:p>
        </p:txBody>
      </p:sp>
      <p:sp>
        <p:nvSpPr>
          <p:cNvPr id="24" name="Text 22"/>
          <p:cNvSpPr/>
          <p:nvPr/>
        </p:nvSpPr>
        <p:spPr>
          <a:xfrm>
            <a:off x="5120640" y="5276088"/>
            <a:ext cx="6309360" cy="320040"/>
          </a:xfrm>
          <a:prstGeom prst="rect">
            <a:avLst/>
          </a:prstGeom>
          <a:noFill/>
          <a:ln/>
        </p:spPr>
        <p:txBody>
          <a:bodyPr wrap="square" lIns="0" tIns="0" rIns="0" bIns="0" rtlCol="0" anchor="ctr"/>
          <a:lstStyle/>
          <a:p>
            <a:pPr indent="0" marL="0">
              <a:buNone/>
            </a:pPr>
            <a:r>
              <a:rPr lang="en-US" sz="1500" dirty="0">
                <a:solidFill>
                  <a:srgbClr val="1B1F3B"/>
                </a:solidFill>
                <a:latin typeface="Calibri" pitchFamily="34" charset="0"/>
                <a:ea typeface="Calibri" pitchFamily="34" charset="-122"/>
                <a:cs typeface="Calibri" pitchFamily="34" charset="-120"/>
              </a:rPr>
              <a:t>8 Weeks | June – August 2026</a:t>
            </a:r>
            <a:endParaRPr lang="en-US" sz="1500" dirty="0"/>
          </a:p>
        </p:txBody>
      </p:sp>
      <p:sp>
        <p:nvSpPr>
          <p:cNvPr id="25" name="Text 23"/>
          <p:cNvSpPr/>
          <p:nvPr/>
        </p:nvSpPr>
        <p:spPr>
          <a:xfrm>
            <a:off x="457200" y="6547104"/>
            <a:ext cx="8229600" cy="274320"/>
          </a:xfrm>
          <a:prstGeom prst="rect">
            <a:avLst/>
          </a:prstGeom>
          <a:noFill/>
          <a:ln/>
        </p:spPr>
        <p:txBody>
          <a:bodyPr wrap="square" lIns="0" tIns="0" rIns="0" bIns="0" rtlCol="0" anchor="ctr"/>
          <a:lstStyle/>
          <a:p>
            <a:pPr algn="l" indent="0" marL="0">
              <a:buNone/>
            </a:pPr>
            <a:r>
              <a:rPr lang="en-US" sz="1000" dirty="0">
                <a:solidFill>
                  <a:srgbClr val="6B7280"/>
                </a:solidFill>
                <a:latin typeface="Calibri" pitchFamily="34" charset="0"/>
                <a:ea typeface="Calibri" pitchFamily="34" charset="-122"/>
                <a:cs typeface="Calibri" pitchFamily="34" charset="-120"/>
              </a:rPr>
              <a:t>Python Full Stack Development Virtual Internship  •  Sujal Gautam</a:t>
            </a:r>
            <a:endParaRPr lang="en-US" sz="1000" dirty="0"/>
          </a:p>
        </p:txBody>
      </p:sp>
      <p:sp>
        <p:nvSpPr>
          <p:cNvPr id="26" name="Text 24"/>
          <p:cNvSpPr/>
          <p:nvPr/>
        </p:nvSpPr>
        <p:spPr>
          <a:xfrm>
            <a:off x="11277295" y="6547104"/>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3FA"/>
        </a:solidFill>
      </p:bgPr>
    </p:bg>
    <p:spTree>
      <p:nvGrpSpPr>
        <p:cNvPr id="1" name=""/>
        <p:cNvGrpSpPr/>
        <p:nvPr/>
      </p:nvGrpSpPr>
      <p:grpSpPr>
        <a:xfrm>
          <a:off x="0" y="0"/>
          <a:ext cx="0" cy="0"/>
          <a:chOff x="0" y="0"/>
          <a:chExt cx="0" cy="0"/>
        </a:xfrm>
      </p:grpSpPr>
      <p:sp>
        <p:nvSpPr>
          <p:cNvPr id="2" name="Text 0"/>
          <p:cNvSpPr/>
          <p:nvPr/>
        </p:nvSpPr>
        <p:spPr>
          <a:xfrm>
            <a:off x="640080" y="457200"/>
            <a:ext cx="7315200" cy="320040"/>
          </a:xfrm>
          <a:prstGeom prst="rect">
            <a:avLst/>
          </a:prstGeom>
          <a:noFill/>
          <a:ln/>
        </p:spPr>
        <p:txBody>
          <a:bodyPr wrap="square" lIns="0" tIns="0" rIns="0" bIns="0" rtlCol="0" anchor="ctr"/>
          <a:lstStyle/>
          <a:p>
            <a:pPr indent="0" marL="0">
              <a:buNone/>
            </a:pPr>
            <a:r>
              <a:rPr lang="en-US" sz="1200" b="1" spc="200" kern="0" dirty="0">
                <a:solidFill>
                  <a:srgbClr val="1E2761"/>
                </a:solidFill>
                <a:latin typeface="Calibri" pitchFamily="34" charset="0"/>
                <a:ea typeface="Calibri" pitchFamily="34" charset="-122"/>
                <a:cs typeface="Calibri" pitchFamily="34" charset="-120"/>
              </a:rPr>
              <a:t>ABOUT THE PROGRAM</a:t>
            </a:r>
            <a:endParaRPr lang="en-US" sz="1200" dirty="0"/>
          </a:p>
        </p:txBody>
      </p:sp>
      <p:sp>
        <p:nvSpPr>
          <p:cNvPr id="3" name="Text 1"/>
          <p:cNvSpPr/>
          <p:nvPr/>
        </p:nvSpPr>
        <p:spPr>
          <a:xfrm>
            <a:off x="640080" y="749808"/>
            <a:ext cx="10881360" cy="640080"/>
          </a:xfrm>
          <a:prstGeom prst="rect">
            <a:avLst/>
          </a:prstGeom>
          <a:noFill/>
          <a:ln/>
        </p:spPr>
        <p:txBody>
          <a:bodyPr wrap="square" lIns="0" tIns="0" rIns="0" bIns="0" rtlCol="0" anchor="ctr"/>
          <a:lstStyle/>
          <a:p>
            <a:pPr indent="0" marL="0">
              <a:buNone/>
            </a:pPr>
            <a:r>
              <a:rPr lang="en-US" sz="3000" b="1" dirty="0">
                <a:solidFill>
                  <a:srgbClr val="1B1F3B"/>
                </a:solidFill>
                <a:latin typeface="Cambria" pitchFamily="34" charset="0"/>
                <a:ea typeface="Cambria" pitchFamily="34" charset="-122"/>
                <a:cs typeface="Cambria" pitchFamily="34" charset="-120"/>
              </a:rPr>
              <a:t>EduSkills, AICTE &amp; Industry Learning</a:t>
            </a:r>
            <a:endParaRPr lang="en-US" sz="3000" dirty="0"/>
          </a:p>
        </p:txBody>
      </p:sp>
      <p:sp>
        <p:nvSpPr>
          <p:cNvPr id="4" name="Shape 2"/>
          <p:cNvSpPr/>
          <p:nvPr/>
        </p:nvSpPr>
        <p:spPr>
          <a:xfrm>
            <a:off x="640080" y="1600200"/>
            <a:ext cx="10881360" cy="1234440"/>
          </a:xfrm>
          <a:prstGeom prst="rect">
            <a:avLst/>
          </a:prstGeom>
          <a:solidFill>
            <a:srgbClr val="FFFFFF"/>
          </a:solidFill>
          <a:ln/>
          <a:effectLst>
            <a:outerShdw sx="100000" sy="100000" kx="0" ky="0" algn="bl" rotWithShape="0" blurRad="76200" dist="25400" dir="5400000">
              <a:srgbClr val="888888">
                <a:alpha val="20000"/>
              </a:srgbClr>
            </a:outerShdw>
          </a:effectLst>
        </p:spPr>
      </p:sp>
      <p:sp>
        <p:nvSpPr>
          <p:cNvPr id="5" name="Text 3"/>
          <p:cNvSpPr/>
          <p:nvPr/>
        </p:nvSpPr>
        <p:spPr>
          <a:xfrm>
            <a:off x="914400" y="1737360"/>
            <a:ext cx="10332720" cy="960120"/>
          </a:xfrm>
          <a:prstGeom prst="rect">
            <a:avLst/>
          </a:prstGeom>
          <a:noFill/>
          <a:ln/>
        </p:spPr>
        <p:txBody>
          <a:bodyPr wrap="square" lIns="0" tIns="0" rIns="0" bIns="0" rtlCol="0" anchor="ctr"/>
          <a:lstStyle/>
          <a:p>
            <a:pPr indent="0" marL="0">
              <a:buNone/>
            </a:pPr>
            <a:r>
              <a:rPr lang="en-US" sz="1300" dirty="0">
                <a:solidFill>
                  <a:srgbClr val="1B1F3B"/>
                </a:solidFill>
                <a:latin typeface="Calibri" pitchFamily="34" charset="0"/>
                <a:ea typeface="Calibri" pitchFamily="34" charset="-122"/>
                <a:cs typeface="Calibri" pitchFamily="34" charset="-120"/>
              </a:rPr>
              <a:t>EduSkills Academy is an ISO 9001:2015 and ISO/IEC 20000-1:2018 certified organization working under the theme “Nation Building Through Skills.” It partners with the All India Council for Technical Education (AICTE) to run the AICTE–EduSkills Virtual Internship Program under the patronage of the National Internship Portal, Ministry of Education.</a:t>
            </a:r>
            <a:endParaRPr lang="en-US" sz="1300" dirty="0"/>
          </a:p>
        </p:txBody>
      </p:sp>
      <p:sp>
        <p:nvSpPr>
          <p:cNvPr id="6" name="Shape 4"/>
          <p:cNvSpPr/>
          <p:nvPr/>
        </p:nvSpPr>
        <p:spPr>
          <a:xfrm>
            <a:off x="640080" y="3154680"/>
            <a:ext cx="3410712" cy="2788920"/>
          </a:xfrm>
          <a:prstGeom prst="rect">
            <a:avLst/>
          </a:prstGeom>
          <a:solidFill>
            <a:srgbClr val="FFFFFF"/>
          </a:solidFill>
          <a:ln/>
          <a:effectLst>
            <a:outerShdw sx="100000" sy="100000" kx="0" ky="0" algn="bl" rotWithShape="0" blurRad="76200" dist="25400" dir="5400000">
              <a:srgbClr val="888888">
                <a:alpha val="20000"/>
              </a:srgbClr>
            </a:outerShdw>
          </a:effectLst>
        </p:spPr>
      </p:sp>
      <p:sp>
        <p:nvSpPr>
          <p:cNvPr id="7" name="Shape 5"/>
          <p:cNvSpPr/>
          <p:nvPr/>
        </p:nvSpPr>
        <p:spPr>
          <a:xfrm>
            <a:off x="1933956" y="3474720"/>
            <a:ext cx="822960" cy="822960"/>
          </a:xfrm>
          <a:prstGeom prst="ellipse">
            <a:avLst/>
          </a:prstGeom>
          <a:solidFill>
            <a:srgbClr val="CADCFC"/>
          </a:solidFill>
          <a:ln/>
        </p:spPr>
      </p:sp>
      <p:sp>
        <p:nvSpPr>
          <p:cNvPr id="8" name="Text 6"/>
          <p:cNvSpPr/>
          <p:nvPr/>
        </p:nvSpPr>
        <p:spPr>
          <a:xfrm>
            <a:off x="1933956" y="3474720"/>
            <a:ext cx="822960" cy="82296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9" name="Text 7"/>
          <p:cNvSpPr/>
          <p:nvPr/>
        </p:nvSpPr>
        <p:spPr>
          <a:xfrm>
            <a:off x="822960" y="4434840"/>
            <a:ext cx="3044952" cy="365760"/>
          </a:xfrm>
          <a:prstGeom prst="rect">
            <a:avLst/>
          </a:prstGeom>
          <a:noFill/>
          <a:ln/>
        </p:spPr>
        <p:txBody>
          <a:bodyPr wrap="square" lIns="0" tIns="0" rIns="0" bIns="0" rtlCol="0" anchor="ctr"/>
          <a:lstStyle/>
          <a:p>
            <a:pPr algn="ctr" indent="0" marL="0">
              <a:buNone/>
            </a:pPr>
            <a:r>
              <a:rPr lang="en-US" sz="1500" b="1" dirty="0">
                <a:solidFill>
                  <a:srgbClr val="1B1F3B"/>
                </a:solidFill>
                <a:latin typeface="Cambria" pitchFamily="34" charset="0"/>
                <a:ea typeface="Cambria" pitchFamily="34" charset="-122"/>
                <a:cs typeface="Cambria" pitchFamily="34" charset="-120"/>
              </a:rPr>
              <a:t>ISO Certified</a:t>
            </a:r>
            <a:endParaRPr lang="en-US" sz="1500" dirty="0"/>
          </a:p>
        </p:txBody>
      </p:sp>
      <p:sp>
        <p:nvSpPr>
          <p:cNvPr id="10" name="Text 8"/>
          <p:cNvSpPr/>
          <p:nvPr/>
        </p:nvSpPr>
        <p:spPr>
          <a:xfrm>
            <a:off x="914400" y="4846320"/>
            <a:ext cx="2862072" cy="914400"/>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ISO 9001:2015 &amp; ISO/IEC 20000-1:2018 certified organization.</a:t>
            </a:r>
            <a:endParaRPr lang="en-US" sz="1100" dirty="0"/>
          </a:p>
        </p:txBody>
      </p:sp>
      <p:sp>
        <p:nvSpPr>
          <p:cNvPr id="11" name="Shape 9"/>
          <p:cNvSpPr/>
          <p:nvPr/>
        </p:nvSpPr>
        <p:spPr>
          <a:xfrm>
            <a:off x="4370832" y="3154680"/>
            <a:ext cx="3410712" cy="2788920"/>
          </a:xfrm>
          <a:prstGeom prst="rect">
            <a:avLst/>
          </a:prstGeom>
          <a:solidFill>
            <a:srgbClr val="FFFFFF"/>
          </a:solidFill>
          <a:ln/>
          <a:effectLst>
            <a:outerShdw sx="100000" sy="100000" kx="0" ky="0" algn="bl" rotWithShape="0" blurRad="76200" dist="25400" dir="5400000">
              <a:srgbClr val="888888">
                <a:alpha val="20000"/>
              </a:srgbClr>
            </a:outerShdw>
          </a:effectLst>
        </p:spPr>
      </p:sp>
      <p:sp>
        <p:nvSpPr>
          <p:cNvPr id="12" name="Shape 10"/>
          <p:cNvSpPr/>
          <p:nvPr/>
        </p:nvSpPr>
        <p:spPr>
          <a:xfrm>
            <a:off x="5664708" y="3474720"/>
            <a:ext cx="822960" cy="822960"/>
          </a:xfrm>
          <a:prstGeom prst="ellipse">
            <a:avLst/>
          </a:prstGeom>
          <a:solidFill>
            <a:srgbClr val="CADCFC"/>
          </a:solidFill>
          <a:ln/>
        </p:spPr>
      </p:sp>
      <p:sp>
        <p:nvSpPr>
          <p:cNvPr id="13" name="Text 11"/>
          <p:cNvSpPr/>
          <p:nvPr/>
        </p:nvSpPr>
        <p:spPr>
          <a:xfrm>
            <a:off x="5664708" y="3474720"/>
            <a:ext cx="822960" cy="82296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14" name="Text 12"/>
          <p:cNvSpPr/>
          <p:nvPr/>
        </p:nvSpPr>
        <p:spPr>
          <a:xfrm>
            <a:off x="4553712" y="4434840"/>
            <a:ext cx="3044952" cy="365760"/>
          </a:xfrm>
          <a:prstGeom prst="rect">
            <a:avLst/>
          </a:prstGeom>
          <a:noFill/>
          <a:ln/>
        </p:spPr>
        <p:txBody>
          <a:bodyPr wrap="square" lIns="0" tIns="0" rIns="0" bIns="0" rtlCol="0" anchor="ctr"/>
          <a:lstStyle/>
          <a:p>
            <a:pPr algn="ctr" indent="0" marL="0">
              <a:buNone/>
            </a:pPr>
            <a:r>
              <a:rPr lang="en-US" sz="1500" b="1" dirty="0">
                <a:solidFill>
                  <a:srgbClr val="1B1F3B"/>
                </a:solidFill>
                <a:latin typeface="Cambria" pitchFamily="34" charset="0"/>
                <a:ea typeface="Cambria" pitchFamily="34" charset="-122"/>
                <a:cs typeface="Cambria" pitchFamily="34" charset="-120"/>
              </a:rPr>
              <a:t>AICTE Patronage</a:t>
            </a:r>
            <a:endParaRPr lang="en-US" sz="1500" dirty="0"/>
          </a:p>
        </p:txBody>
      </p:sp>
      <p:sp>
        <p:nvSpPr>
          <p:cNvPr id="15" name="Text 13"/>
          <p:cNvSpPr/>
          <p:nvPr/>
        </p:nvSpPr>
        <p:spPr>
          <a:xfrm>
            <a:off x="4645152" y="4846320"/>
            <a:ext cx="2862072" cy="914400"/>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Run under the National Internship Portal, Ministry of Education.</a:t>
            </a:r>
            <a:endParaRPr lang="en-US" sz="1100" dirty="0"/>
          </a:p>
        </p:txBody>
      </p:sp>
      <p:sp>
        <p:nvSpPr>
          <p:cNvPr id="16" name="Shape 14"/>
          <p:cNvSpPr/>
          <p:nvPr/>
        </p:nvSpPr>
        <p:spPr>
          <a:xfrm>
            <a:off x="8101584" y="3154680"/>
            <a:ext cx="3410712" cy="2788920"/>
          </a:xfrm>
          <a:prstGeom prst="rect">
            <a:avLst/>
          </a:prstGeom>
          <a:solidFill>
            <a:srgbClr val="FFFFFF"/>
          </a:solidFill>
          <a:ln/>
          <a:effectLst>
            <a:outerShdw sx="100000" sy="100000" kx="0" ky="0" algn="bl" rotWithShape="0" blurRad="76200" dist="25400" dir="5400000">
              <a:srgbClr val="888888">
                <a:alpha val="20000"/>
              </a:srgbClr>
            </a:outerShdw>
          </a:effectLst>
        </p:spPr>
      </p:sp>
      <p:sp>
        <p:nvSpPr>
          <p:cNvPr id="17" name="Shape 15"/>
          <p:cNvSpPr/>
          <p:nvPr/>
        </p:nvSpPr>
        <p:spPr>
          <a:xfrm>
            <a:off x="9395460" y="3474720"/>
            <a:ext cx="822960" cy="822960"/>
          </a:xfrm>
          <a:prstGeom prst="ellipse">
            <a:avLst/>
          </a:prstGeom>
          <a:solidFill>
            <a:srgbClr val="CADCFC"/>
          </a:solidFill>
          <a:ln/>
        </p:spPr>
      </p:sp>
      <p:sp>
        <p:nvSpPr>
          <p:cNvPr id="18" name="Text 16"/>
          <p:cNvSpPr/>
          <p:nvPr/>
        </p:nvSpPr>
        <p:spPr>
          <a:xfrm>
            <a:off x="9395460" y="3474720"/>
            <a:ext cx="822960" cy="82296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19" name="Text 17"/>
          <p:cNvSpPr/>
          <p:nvPr/>
        </p:nvSpPr>
        <p:spPr>
          <a:xfrm>
            <a:off x="8284464" y="4434840"/>
            <a:ext cx="3044952" cy="365760"/>
          </a:xfrm>
          <a:prstGeom prst="rect">
            <a:avLst/>
          </a:prstGeom>
          <a:noFill/>
          <a:ln/>
        </p:spPr>
        <p:txBody>
          <a:bodyPr wrap="square" lIns="0" tIns="0" rIns="0" bIns="0" rtlCol="0" anchor="ctr"/>
          <a:lstStyle/>
          <a:p>
            <a:pPr algn="ctr" indent="0" marL="0">
              <a:buNone/>
            </a:pPr>
            <a:r>
              <a:rPr lang="en-US" sz="1500" b="1" dirty="0">
                <a:solidFill>
                  <a:srgbClr val="1B1F3B"/>
                </a:solidFill>
                <a:latin typeface="Cambria" pitchFamily="34" charset="0"/>
                <a:ea typeface="Cambria" pitchFamily="34" charset="-122"/>
                <a:cs typeface="Cambria" pitchFamily="34" charset="-120"/>
              </a:rPr>
              <a:t>Full Stack Curriculum</a:t>
            </a:r>
            <a:endParaRPr lang="en-US" sz="1500" dirty="0"/>
          </a:p>
        </p:txBody>
      </p:sp>
      <p:sp>
        <p:nvSpPr>
          <p:cNvPr id="20" name="Text 18"/>
          <p:cNvSpPr/>
          <p:nvPr/>
        </p:nvSpPr>
        <p:spPr>
          <a:xfrm>
            <a:off x="8375904" y="4846320"/>
            <a:ext cx="2862072" cy="914400"/>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Structured 8-week Python, FastAPI &amp; React learning path.</a:t>
            </a:r>
            <a:endParaRPr lang="en-US" sz="1100" dirty="0"/>
          </a:p>
        </p:txBody>
      </p:sp>
      <p:sp>
        <p:nvSpPr>
          <p:cNvPr id="21" name="Text 19"/>
          <p:cNvSpPr/>
          <p:nvPr/>
        </p:nvSpPr>
        <p:spPr>
          <a:xfrm>
            <a:off x="457200" y="6547104"/>
            <a:ext cx="8229600" cy="274320"/>
          </a:xfrm>
          <a:prstGeom prst="rect">
            <a:avLst/>
          </a:prstGeom>
          <a:noFill/>
          <a:ln/>
        </p:spPr>
        <p:txBody>
          <a:bodyPr wrap="square" lIns="0" tIns="0" rIns="0" bIns="0" rtlCol="0" anchor="ctr"/>
          <a:lstStyle/>
          <a:p>
            <a:pPr algn="l" indent="0" marL="0">
              <a:buNone/>
            </a:pPr>
            <a:r>
              <a:rPr lang="en-US" sz="1000" dirty="0">
                <a:solidFill>
                  <a:srgbClr val="6B7280"/>
                </a:solidFill>
                <a:latin typeface="Calibri" pitchFamily="34" charset="0"/>
                <a:ea typeface="Calibri" pitchFamily="34" charset="-122"/>
                <a:cs typeface="Calibri" pitchFamily="34" charset="-120"/>
              </a:rPr>
              <a:t>Python Full Stack Development Virtual Internship  •  Sujal Gautam</a:t>
            </a:r>
            <a:endParaRPr lang="en-US" sz="1000" dirty="0"/>
          </a:p>
        </p:txBody>
      </p:sp>
      <p:sp>
        <p:nvSpPr>
          <p:cNvPr id="22" name="Text 20"/>
          <p:cNvSpPr/>
          <p:nvPr/>
        </p:nvSpPr>
        <p:spPr>
          <a:xfrm>
            <a:off x="11277295" y="6547104"/>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7315200" cy="320040"/>
          </a:xfrm>
          <a:prstGeom prst="rect">
            <a:avLst/>
          </a:prstGeom>
          <a:noFill/>
          <a:ln/>
        </p:spPr>
        <p:txBody>
          <a:bodyPr wrap="square" lIns="0" tIns="0" rIns="0" bIns="0" rtlCol="0" anchor="ctr"/>
          <a:lstStyle/>
          <a:p>
            <a:pPr indent="0" marL="0">
              <a:buNone/>
            </a:pPr>
            <a:r>
              <a:rPr lang="en-US" sz="1200" b="1" spc="200" kern="0" dirty="0">
                <a:solidFill>
                  <a:srgbClr val="E0A82E"/>
                </a:solidFill>
                <a:latin typeface="Calibri" pitchFamily="34" charset="0"/>
                <a:ea typeface="Calibri" pitchFamily="34" charset="-122"/>
                <a:cs typeface="Calibri" pitchFamily="34" charset="-120"/>
              </a:rPr>
              <a:t>PROBLEM STATEMENT</a:t>
            </a:r>
            <a:endParaRPr lang="en-US" sz="1200" dirty="0"/>
          </a:p>
        </p:txBody>
      </p:sp>
      <p:sp>
        <p:nvSpPr>
          <p:cNvPr id="3" name="Text 1"/>
          <p:cNvSpPr/>
          <p:nvPr/>
        </p:nvSpPr>
        <p:spPr>
          <a:xfrm>
            <a:off x="640080" y="749808"/>
            <a:ext cx="10881360" cy="640080"/>
          </a:xfrm>
          <a:prstGeom prst="rect">
            <a:avLst/>
          </a:prstGeom>
          <a:noFill/>
          <a:ln/>
        </p:spPr>
        <p:txBody>
          <a:bodyPr wrap="square" lIns="0" tIns="0" rIns="0" bIns="0" rtlCol="0" anchor="ctr"/>
          <a:lstStyle/>
          <a:p>
            <a:pPr indent="0" marL="0">
              <a:buNone/>
            </a:pPr>
            <a:r>
              <a:rPr lang="en-US" sz="2800" b="1" dirty="0">
                <a:solidFill>
                  <a:srgbClr val="1B1F3B"/>
                </a:solidFill>
                <a:latin typeface="Cambria" pitchFamily="34" charset="0"/>
                <a:ea typeface="Cambria" pitchFamily="34" charset="-122"/>
                <a:cs typeface="Cambria" pitchFamily="34" charset="-120"/>
              </a:rPr>
              <a:t>Building a Redis-Style In-Memory Cache</a:t>
            </a:r>
            <a:endParaRPr lang="en-US" sz="2800" dirty="0"/>
          </a:p>
        </p:txBody>
      </p:sp>
      <p:sp>
        <p:nvSpPr>
          <p:cNvPr id="4" name="Shape 2"/>
          <p:cNvSpPr/>
          <p:nvPr/>
        </p:nvSpPr>
        <p:spPr>
          <a:xfrm>
            <a:off x="640080" y="1554480"/>
            <a:ext cx="10881360" cy="1463040"/>
          </a:xfrm>
          <a:prstGeom prst="rect">
            <a:avLst/>
          </a:prstGeom>
          <a:solidFill>
            <a:srgbClr val="F0F3FA"/>
          </a:solidFill>
          <a:ln/>
        </p:spPr>
      </p:sp>
      <p:sp>
        <p:nvSpPr>
          <p:cNvPr id="5" name="Text 3"/>
          <p:cNvSpPr/>
          <p:nvPr/>
        </p:nvSpPr>
        <p:spPr>
          <a:xfrm>
            <a:off x="914400" y="1691640"/>
            <a:ext cx="10332720" cy="1188720"/>
          </a:xfrm>
          <a:prstGeom prst="rect">
            <a:avLst/>
          </a:prstGeom>
          <a:noFill/>
          <a:ln/>
        </p:spPr>
        <p:txBody>
          <a:bodyPr wrap="square" lIns="0" tIns="0" rIns="0" bIns="0" rtlCol="0" anchor="ctr"/>
          <a:lstStyle/>
          <a:p>
            <a:pPr indent="0" marL="0">
              <a:buNone/>
            </a:pPr>
            <a:r>
              <a:rPr lang="en-US" sz="1350" dirty="0">
                <a:solidFill>
                  <a:srgbClr val="1B1F3B"/>
                </a:solidFill>
                <a:latin typeface="Calibri" pitchFamily="34" charset="0"/>
                <a:ea typeface="Calibri" pitchFamily="34" charset="-122"/>
                <a:cs typeface="Calibri" pitchFamily="34" charset="-120"/>
              </a:rPr>
              <a:t>Students often understand caching concepts theoretically but rarely get hands-on practice building a working key-value store. This project, “In-Memory Cache with TTL Lite,” tackles that gap — implementing a simplified version of systems like Redis, supporting core operations, hit/miss tracking, time-based expiration, deletion, and statistics reporting, entirely in Python.</a:t>
            </a:r>
            <a:endParaRPr lang="en-US" sz="1350" dirty="0"/>
          </a:p>
        </p:txBody>
      </p:sp>
      <p:sp>
        <p:nvSpPr>
          <p:cNvPr id="6" name="Text 4"/>
          <p:cNvSpPr/>
          <p:nvPr/>
        </p:nvSpPr>
        <p:spPr>
          <a:xfrm>
            <a:off x="640080" y="3246120"/>
            <a:ext cx="10058400" cy="365760"/>
          </a:xfrm>
          <a:prstGeom prst="rect">
            <a:avLst/>
          </a:prstGeom>
          <a:noFill/>
          <a:ln/>
        </p:spPr>
        <p:txBody>
          <a:bodyPr wrap="square" lIns="0" tIns="0" rIns="0" bIns="0" rtlCol="0" anchor="ctr"/>
          <a:lstStyle/>
          <a:p>
            <a:pPr indent="0" marL="0">
              <a:buNone/>
            </a:pPr>
            <a:r>
              <a:rPr lang="en-US" sz="1300" b="1" dirty="0">
                <a:solidFill>
                  <a:srgbClr val="1B1F3B"/>
                </a:solidFill>
                <a:latin typeface="Calibri" pitchFamily="34" charset="0"/>
                <a:ea typeface="Calibri" pitchFamily="34" charset="-122"/>
                <a:cs typeface="Calibri" pitchFamily="34" charset="-120"/>
              </a:rPr>
              <a:t>This project built the full workflow of an in-memory caching system:</a:t>
            </a:r>
            <a:endParaRPr lang="en-US" sz="1300" dirty="0"/>
          </a:p>
        </p:txBody>
      </p:sp>
      <p:sp>
        <p:nvSpPr>
          <p:cNvPr id="7" name="Shape 5"/>
          <p:cNvSpPr/>
          <p:nvPr/>
        </p:nvSpPr>
        <p:spPr>
          <a:xfrm>
            <a:off x="640080" y="3794760"/>
            <a:ext cx="1874520" cy="1280160"/>
          </a:xfrm>
          <a:prstGeom prst="rect">
            <a:avLst/>
          </a:prstGeom>
          <a:solidFill>
            <a:srgbClr val="1E2761"/>
          </a:solidFill>
          <a:ln/>
        </p:spPr>
      </p:sp>
      <p:sp>
        <p:nvSpPr>
          <p:cNvPr id="8" name="Text 6"/>
          <p:cNvSpPr/>
          <p:nvPr/>
        </p:nvSpPr>
        <p:spPr>
          <a:xfrm>
            <a:off x="731520" y="3794760"/>
            <a:ext cx="1691640" cy="12801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SET &amp; GET</a:t>
            </a:r>
            <a:endParaRPr lang="en-US" sz="1300" dirty="0"/>
          </a:p>
        </p:txBody>
      </p:sp>
      <p:sp>
        <p:nvSpPr>
          <p:cNvPr id="9" name="Text 7"/>
          <p:cNvSpPr/>
          <p:nvPr/>
        </p:nvSpPr>
        <p:spPr>
          <a:xfrm>
            <a:off x="2532888" y="3794760"/>
            <a:ext cx="256032" cy="1280160"/>
          </a:xfrm>
          <a:prstGeom prst="rect">
            <a:avLst/>
          </a:prstGeom>
          <a:noFill/>
          <a:ln/>
        </p:spPr>
        <p:txBody>
          <a:bodyPr wrap="square" lIns="0" tIns="0" rIns="0" bIns="0" rtlCol="0" anchor="ctr"/>
          <a:lstStyle/>
          <a:p>
            <a:pPr algn="ctr" indent="0" marL="0">
              <a:buNone/>
            </a:pPr>
            <a:r>
              <a:rPr lang="en-US" sz="1800" b="1" dirty="0">
                <a:solidFill>
                  <a:srgbClr val="E0A82E"/>
                </a:solidFill>
                <a:latin typeface="Calibri" pitchFamily="34" charset="0"/>
                <a:ea typeface="Calibri" pitchFamily="34" charset="-122"/>
                <a:cs typeface="Calibri" pitchFamily="34" charset="-120"/>
              </a:rPr>
              <a:t>→</a:t>
            </a:r>
            <a:endParaRPr lang="en-US" sz="1800" dirty="0"/>
          </a:p>
        </p:txBody>
      </p:sp>
      <p:sp>
        <p:nvSpPr>
          <p:cNvPr id="10" name="Shape 8"/>
          <p:cNvSpPr/>
          <p:nvPr/>
        </p:nvSpPr>
        <p:spPr>
          <a:xfrm>
            <a:off x="2807208" y="3794760"/>
            <a:ext cx="1874520" cy="1280160"/>
          </a:xfrm>
          <a:prstGeom prst="rect">
            <a:avLst/>
          </a:prstGeom>
          <a:solidFill>
            <a:srgbClr val="1E2761"/>
          </a:solidFill>
          <a:ln/>
        </p:spPr>
      </p:sp>
      <p:sp>
        <p:nvSpPr>
          <p:cNvPr id="11" name="Text 9"/>
          <p:cNvSpPr/>
          <p:nvPr/>
        </p:nvSpPr>
        <p:spPr>
          <a:xfrm>
            <a:off x="2898648" y="3794760"/>
            <a:ext cx="1691640" cy="12801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Hit / Miss</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Tracking</a:t>
            </a:r>
            <a:endParaRPr lang="en-US" sz="1300" dirty="0"/>
          </a:p>
        </p:txBody>
      </p:sp>
      <p:sp>
        <p:nvSpPr>
          <p:cNvPr id="12" name="Text 10"/>
          <p:cNvSpPr/>
          <p:nvPr/>
        </p:nvSpPr>
        <p:spPr>
          <a:xfrm>
            <a:off x="4700016" y="3794760"/>
            <a:ext cx="256032" cy="1280160"/>
          </a:xfrm>
          <a:prstGeom prst="rect">
            <a:avLst/>
          </a:prstGeom>
          <a:noFill/>
          <a:ln/>
        </p:spPr>
        <p:txBody>
          <a:bodyPr wrap="square" lIns="0" tIns="0" rIns="0" bIns="0" rtlCol="0" anchor="ctr"/>
          <a:lstStyle/>
          <a:p>
            <a:pPr algn="ctr" indent="0" marL="0">
              <a:buNone/>
            </a:pPr>
            <a:r>
              <a:rPr lang="en-US" sz="1800" b="1" dirty="0">
                <a:solidFill>
                  <a:srgbClr val="E0A82E"/>
                </a:solidFill>
                <a:latin typeface="Calibri" pitchFamily="34" charset="0"/>
                <a:ea typeface="Calibri" pitchFamily="34" charset="-122"/>
                <a:cs typeface="Calibri" pitchFamily="34" charset="-120"/>
              </a:rPr>
              <a:t>→</a:t>
            </a:r>
            <a:endParaRPr lang="en-US" sz="1800" dirty="0"/>
          </a:p>
        </p:txBody>
      </p:sp>
      <p:sp>
        <p:nvSpPr>
          <p:cNvPr id="13" name="Shape 11"/>
          <p:cNvSpPr/>
          <p:nvPr/>
        </p:nvSpPr>
        <p:spPr>
          <a:xfrm>
            <a:off x="4974336" y="3794760"/>
            <a:ext cx="1874520" cy="1280160"/>
          </a:xfrm>
          <a:prstGeom prst="rect">
            <a:avLst/>
          </a:prstGeom>
          <a:solidFill>
            <a:srgbClr val="1E2761"/>
          </a:solidFill>
          <a:ln/>
        </p:spPr>
      </p:sp>
      <p:sp>
        <p:nvSpPr>
          <p:cNvPr id="14" name="Text 12"/>
          <p:cNvSpPr/>
          <p:nvPr/>
        </p:nvSpPr>
        <p:spPr>
          <a:xfrm>
            <a:off x="5065776" y="3794760"/>
            <a:ext cx="1691640" cy="12801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TTL</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Expiration</a:t>
            </a:r>
            <a:endParaRPr lang="en-US" sz="1300" dirty="0"/>
          </a:p>
        </p:txBody>
      </p:sp>
      <p:sp>
        <p:nvSpPr>
          <p:cNvPr id="15" name="Text 13"/>
          <p:cNvSpPr/>
          <p:nvPr/>
        </p:nvSpPr>
        <p:spPr>
          <a:xfrm>
            <a:off x="6867144" y="3794760"/>
            <a:ext cx="256032" cy="1280160"/>
          </a:xfrm>
          <a:prstGeom prst="rect">
            <a:avLst/>
          </a:prstGeom>
          <a:noFill/>
          <a:ln/>
        </p:spPr>
        <p:txBody>
          <a:bodyPr wrap="square" lIns="0" tIns="0" rIns="0" bIns="0" rtlCol="0" anchor="ctr"/>
          <a:lstStyle/>
          <a:p>
            <a:pPr algn="ctr" indent="0" marL="0">
              <a:buNone/>
            </a:pPr>
            <a:r>
              <a:rPr lang="en-US" sz="1800" b="1" dirty="0">
                <a:solidFill>
                  <a:srgbClr val="E0A82E"/>
                </a:solidFill>
                <a:latin typeface="Calibri" pitchFamily="34" charset="0"/>
                <a:ea typeface="Calibri" pitchFamily="34" charset="-122"/>
                <a:cs typeface="Calibri" pitchFamily="34" charset="-120"/>
              </a:rPr>
              <a:t>→</a:t>
            </a:r>
            <a:endParaRPr lang="en-US" sz="1800" dirty="0"/>
          </a:p>
        </p:txBody>
      </p:sp>
      <p:sp>
        <p:nvSpPr>
          <p:cNvPr id="16" name="Shape 14"/>
          <p:cNvSpPr/>
          <p:nvPr/>
        </p:nvSpPr>
        <p:spPr>
          <a:xfrm>
            <a:off x="7141464" y="3794760"/>
            <a:ext cx="1874520" cy="1280160"/>
          </a:xfrm>
          <a:prstGeom prst="rect">
            <a:avLst/>
          </a:prstGeom>
          <a:solidFill>
            <a:srgbClr val="1E2761"/>
          </a:solidFill>
          <a:ln/>
        </p:spPr>
      </p:sp>
      <p:sp>
        <p:nvSpPr>
          <p:cNvPr id="17" name="Text 15"/>
          <p:cNvSpPr/>
          <p:nvPr/>
        </p:nvSpPr>
        <p:spPr>
          <a:xfrm>
            <a:off x="7232904" y="3794760"/>
            <a:ext cx="1691640" cy="12801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DELETE</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Operation</a:t>
            </a:r>
            <a:endParaRPr lang="en-US" sz="1300" dirty="0"/>
          </a:p>
        </p:txBody>
      </p:sp>
      <p:sp>
        <p:nvSpPr>
          <p:cNvPr id="18" name="Text 16"/>
          <p:cNvSpPr/>
          <p:nvPr/>
        </p:nvSpPr>
        <p:spPr>
          <a:xfrm>
            <a:off x="9034272" y="3794760"/>
            <a:ext cx="256032" cy="1280160"/>
          </a:xfrm>
          <a:prstGeom prst="rect">
            <a:avLst/>
          </a:prstGeom>
          <a:noFill/>
          <a:ln/>
        </p:spPr>
        <p:txBody>
          <a:bodyPr wrap="square" lIns="0" tIns="0" rIns="0" bIns="0" rtlCol="0" anchor="ctr"/>
          <a:lstStyle/>
          <a:p>
            <a:pPr algn="ctr" indent="0" marL="0">
              <a:buNone/>
            </a:pPr>
            <a:r>
              <a:rPr lang="en-US" sz="1800" b="1" dirty="0">
                <a:solidFill>
                  <a:srgbClr val="E0A82E"/>
                </a:solidFill>
                <a:latin typeface="Calibri" pitchFamily="34" charset="0"/>
                <a:ea typeface="Calibri" pitchFamily="34" charset="-122"/>
                <a:cs typeface="Calibri" pitchFamily="34" charset="-120"/>
              </a:rPr>
              <a:t>→</a:t>
            </a:r>
            <a:endParaRPr lang="en-US" sz="1800" dirty="0"/>
          </a:p>
        </p:txBody>
      </p:sp>
      <p:sp>
        <p:nvSpPr>
          <p:cNvPr id="19" name="Shape 17"/>
          <p:cNvSpPr/>
          <p:nvPr/>
        </p:nvSpPr>
        <p:spPr>
          <a:xfrm>
            <a:off x="9308592" y="3794760"/>
            <a:ext cx="1874520" cy="1280160"/>
          </a:xfrm>
          <a:prstGeom prst="rect">
            <a:avLst/>
          </a:prstGeom>
          <a:solidFill>
            <a:srgbClr val="1E2761"/>
          </a:solidFill>
          <a:ln/>
        </p:spPr>
      </p:sp>
      <p:sp>
        <p:nvSpPr>
          <p:cNvPr id="20" name="Text 18"/>
          <p:cNvSpPr/>
          <p:nvPr/>
        </p:nvSpPr>
        <p:spPr>
          <a:xfrm>
            <a:off x="9400032" y="3794760"/>
            <a:ext cx="1691640" cy="12801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Stats</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Report</a:t>
            </a:r>
            <a:endParaRPr lang="en-US" sz="1300" dirty="0"/>
          </a:p>
        </p:txBody>
      </p:sp>
      <p:sp>
        <p:nvSpPr>
          <p:cNvPr id="21" name="Text 19"/>
          <p:cNvSpPr/>
          <p:nvPr/>
        </p:nvSpPr>
        <p:spPr>
          <a:xfrm>
            <a:off x="457200" y="6547104"/>
            <a:ext cx="8229600" cy="274320"/>
          </a:xfrm>
          <a:prstGeom prst="rect">
            <a:avLst/>
          </a:prstGeom>
          <a:noFill/>
          <a:ln/>
        </p:spPr>
        <p:txBody>
          <a:bodyPr wrap="square" lIns="0" tIns="0" rIns="0" bIns="0" rtlCol="0" anchor="ctr"/>
          <a:lstStyle/>
          <a:p>
            <a:pPr algn="l" indent="0" marL="0">
              <a:buNone/>
            </a:pPr>
            <a:r>
              <a:rPr lang="en-US" sz="1000" dirty="0">
                <a:solidFill>
                  <a:srgbClr val="6B7280"/>
                </a:solidFill>
                <a:latin typeface="Calibri" pitchFamily="34" charset="0"/>
                <a:ea typeface="Calibri" pitchFamily="34" charset="-122"/>
                <a:cs typeface="Calibri" pitchFamily="34" charset="-120"/>
              </a:rPr>
              <a:t>Python Full Stack Development Virtual Internship  •  Sujal Gautam</a:t>
            </a:r>
            <a:endParaRPr lang="en-US" sz="1000" dirty="0"/>
          </a:p>
        </p:txBody>
      </p:sp>
      <p:sp>
        <p:nvSpPr>
          <p:cNvPr id="22" name="Text 20"/>
          <p:cNvSpPr/>
          <p:nvPr/>
        </p:nvSpPr>
        <p:spPr>
          <a:xfrm>
            <a:off x="11277295" y="6547104"/>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3FA"/>
        </a:solidFill>
      </p:bgPr>
    </p:bg>
    <p:spTree>
      <p:nvGrpSpPr>
        <p:cNvPr id="1" name=""/>
        <p:cNvGrpSpPr/>
        <p:nvPr/>
      </p:nvGrpSpPr>
      <p:grpSpPr>
        <a:xfrm>
          <a:off x="0" y="0"/>
          <a:ext cx="0" cy="0"/>
          <a:chOff x="0" y="0"/>
          <a:chExt cx="0" cy="0"/>
        </a:xfrm>
      </p:grpSpPr>
      <p:sp>
        <p:nvSpPr>
          <p:cNvPr id="2" name="Text 0"/>
          <p:cNvSpPr/>
          <p:nvPr/>
        </p:nvSpPr>
        <p:spPr>
          <a:xfrm>
            <a:off x="640080" y="457200"/>
            <a:ext cx="7315200" cy="320040"/>
          </a:xfrm>
          <a:prstGeom prst="rect">
            <a:avLst/>
          </a:prstGeom>
          <a:noFill/>
          <a:ln/>
        </p:spPr>
        <p:txBody>
          <a:bodyPr wrap="square" lIns="0" tIns="0" rIns="0" bIns="0" rtlCol="0" anchor="ctr"/>
          <a:lstStyle/>
          <a:p>
            <a:pPr indent="0" marL="0">
              <a:buNone/>
            </a:pPr>
            <a:r>
              <a:rPr lang="en-US" sz="1200" b="1" spc="200" kern="0" dirty="0">
                <a:solidFill>
                  <a:srgbClr val="1E2761"/>
                </a:solidFill>
                <a:latin typeface="Calibri" pitchFamily="34" charset="0"/>
                <a:ea typeface="Calibri" pitchFamily="34" charset="-122"/>
                <a:cs typeface="Calibri" pitchFamily="34" charset="-120"/>
              </a:rPr>
              <a:t>PROJECT OBJECTIVES</a:t>
            </a:r>
            <a:endParaRPr lang="en-US" sz="1200" dirty="0"/>
          </a:p>
        </p:txBody>
      </p:sp>
      <p:sp>
        <p:nvSpPr>
          <p:cNvPr id="3" name="Text 1"/>
          <p:cNvSpPr/>
          <p:nvPr/>
        </p:nvSpPr>
        <p:spPr>
          <a:xfrm>
            <a:off x="640080" y="749808"/>
            <a:ext cx="10881360" cy="640080"/>
          </a:xfrm>
          <a:prstGeom prst="rect">
            <a:avLst/>
          </a:prstGeom>
          <a:noFill/>
          <a:ln/>
        </p:spPr>
        <p:txBody>
          <a:bodyPr wrap="square" lIns="0" tIns="0" rIns="0" bIns="0" rtlCol="0" anchor="ctr"/>
          <a:lstStyle/>
          <a:p>
            <a:pPr indent="0" marL="0">
              <a:buNone/>
            </a:pPr>
            <a:r>
              <a:rPr lang="en-US" sz="3000" b="1" dirty="0">
                <a:solidFill>
                  <a:srgbClr val="1B1F3B"/>
                </a:solidFill>
                <a:latin typeface="Cambria" pitchFamily="34" charset="0"/>
                <a:ea typeface="Cambria" pitchFamily="34" charset="-122"/>
                <a:cs typeface="Cambria" pitchFamily="34" charset="-120"/>
              </a:rPr>
              <a:t>What the Internship Set Out to Achieve</a:t>
            </a:r>
            <a:endParaRPr lang="en-US" sz="3000" dirty="0"/>
          </a:p>
        </p:txBody>
      </p:sp>
      <p:sp>
        <p:nvSpPr>
          <p:cNvPr id="4" name="Shape 2"/>
          <p:cNvSpPr/>
          <p:nvPr/>
        </p:nvSpPr>
        <p:spPr>
          <a:xfrm>
            <a:off x="640080" y="1554480"/>
            <a:ext cx="3502152" cy="1554480"/>
          </a:xfrm>
          <a:prstGeom prst="rect">
            <a:avLst/>
          </a:prstGeom>
          <a:solidFill>
            <a:srgbClr val="FFFFFF"/>
          </a:solidFill>
          <a:ln/>
          <a:effectLst>
            <a:outerShdw sx="100000" sy="100000" kx="0" ky="0" algn="bl" rotWithShape="0" blurRad="76200" dist="25400" dir="5400000">
              <a:srgbClr val="888888">
                <a:alpha val="20000"/>
              </a:srgbClr>
            </a:outerShdw>
          </a:effectLst>
        </p:spPr>
      </p:sp>
      <p:sp>
        <p:nvSpPr>
          <p:cNvPr id="5" name="Shape 3"/>
          <p:cNvSpPr/>
          <p:nvPr/>
        </p:nvSpPr>
        <p:spPr>
          <a:xfrm>
            <a:off x="868680" y="1755648"/>
            <a:ext cx="502920" cy="502920"/>
          </a:xfrm>
          <a:prstGeom prst="ellipse">
            <a:avLst/>
          </a:prstGeom>
          <a:solidFill>
            <a:srgbClr val="CADCFC"/>
          </a:solidFill>
          <a:ln/>
        </p:spPr>
      </p:sp>
      <p:sp>
        <p:nvSpPr>
          <p:cNvPr id="6" name="Text 4"/>
          <p:cNvSpPr/>
          <p:nvPr/>
        </p:nvSpPr>
        <p:spPr>
          <a:xfrm>
            <a:off x="868680" y="1755648"/>
            <a:ext cx="502920" cy="50292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7" name="Text 5"/>
          <p:cNvSpPr/>
          <p:nvPr/>
        </p:nvSpPr>
        <p:spPr>
          <a:xfrm>
            <a:off x="868680" y="2331720"/>
            <a:ext cx="3044952" cy="320040"/>
          </a:xfrm>
          <a:prstGeom prst="rect">
            <a:avLst/>
          </a:prstGeom>
          <a:noFill/>
          <a:ln/>
        </p:spPr>
        <p:txBody>
          <a:bodyPr wrap="square" lIns="0" tIns="0" rIns="0" bIns="0" rtlCol="0" anchor="ctr"/>
          <a:lstStyle/>
          <a:p>
            <a:pPr indent="0" marL="0">
              <a:buNone/>
            </a:pPr>
            <a:r>
              <a:rPr lang="en-US" sz="1350" b="1" dirty="0">
                <a:solidFill>
                  <a:srgbClr val="1B1F3B"/>
                </a:solidFill>
                <a:latin typeface="Cambria" pitchFamily="34" charset="0"/>
                <a:ea typeface="Cambria" pitchFamily="34" charset="-122"/>
                <a:cs typeface="Cambria" pitchFamily="34" charset="-120"/>
              </a:rPr>
              <a:t>Python &amp; Full Stack Basics</a:t>
            </a:r>
            <a:endParaRPr lang="en-US" sz="1350" dirty="0"/>
          </a:p>
        </p:txBody>
      </p:sp>
      <p:sp>
        <p:nvSpPr>
          <p:cNvPr id="8" name="Text 6"/>
          <p:cNvSpPr/>
          <p:nvPr/>
        </p:nvSpPr>
        <p:spPr>
          <a:xfrm>
            <a:off x="868680" y="2633472"/>
            <a:ext cx="3044952" cy="438912"/>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Build a strong foundation in Python, OOP, and full-stack development concepts.</a:t>
            </a:r>
            <a:endParaRPr lang="en-US" sz="1000" dirty="0"/>
          </a:p>
        </p:txBody>
      </p:sp>
      <p:sp>
        <p:nvSpPr>
          <p:cNvPr id="9" name="Shape 7"/>
          <p:cNvSpPr/>
          <p:nvPr/>
        </p:nvSpPr>
        <p:spPr>
          <a:xfrm>
            <a:off x="4416552" y="1554480"/>
            <a:ext cx="3502152" cy="1554480"/>
          </a:xfrm>
          <a:prstGeom prst="rect">
            <a:avLst/>
          </a:prstGeom>
          <a:solidFill>
            <a:srgbClr val="FFFFFF"/>
          </a:solidFill>
          <a:ln/>
          <a:effectLst>
            <a:outerShdw sx="100000" sy="100000" kx="0" ky="0" algn="bl" rotWithShape="0" blurRad="76200" dist="25400" dir="5400000">
              <a:srgbClr val="888888">
                <a:alpha val="20000"/>
              </a:srgbClr>
            </a:outerShdw>
          </a:effectLst>
        </p:spPr>
      </p:sp>
      <p:sp>
        <p:nvSpPr>
          <p:cNvPr id="10" name="Shape 8"/>
          <p:cNvSpPr/>
          <p:nvPr/>
        </p:nvSpPr>
        <p:spPr>
          <a:xfrm>
            <a:off x="4645152" y="1755648"/>
            <a:ext cx="502920" cy="502920"/>
          </a:xfrm>
          <a:prstGeom prst="ellipse">
            <a:avLst/>
          </a:prstGeom>
          <a:solidFill>
            <a:srgbClr val="CADCFC"/>
          </a:solidFill>
          <a:ln/>
        </p:spPr>
      </p:sp>
      <p:sp>
        <p:nvSpPr>
          <p:cNvPr id="11" name="Text 9"/>
          <p:cNvSpPr/>
          <p:nvPr/>
        </p:nvSpPr>
        <p:spPr>
          <a:xfrm>
            <a:off x="4645152" y="1755648"/>
            <a:ext cx="502920" cy="50292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12" name="Text 10"/>
          <p:cNvSpPr/>
          <p:nvPr/>
        </p:nvSpPr>
        <p:spPr>
          <a:xfrm>
            <a:off x="4645152" y="2331720"/>
            <a:ext cx="3044952" cy="320040"/>
          </a:xfrm>
          <a:prstGeom prst="rect">
            <a:avLst/>
          </a:prstGeom>
          <a:noFill/>
          <a:ln/>
        </p:spPr>
        <p:txBody>
          <a:bodyPr wrap="square" lIns="0" tIns="0" rIns="0" bIns="0" rtlCol="0" anchor="ctr"/>
          <a:lstStyle/>
          <a:p>
            <a:pPr indent="0" marL="0">
              <a:buNone/>
            </a:pPr>
            <a:r>
              <a:rPr lang="en-US" sz="1350" b="1" dirty="0">
                <a:solidFill>
                  <a:srgbClr val="1B1F3B"/>
                </a:solidFill>
                <a:latin typeface="Cambria" pitchFamily="34" charset="0"/>
                <a:ea typeface="Cambria" pitchFamily="34" charset="-122"/>
                <a:cs typeface="Cambria" pitchFamily="34" charset="-120"/>
              </a:rPr>
              <a:t>FastAPI &amp; Validation</a:t>
            </a:r>
            <a:endParaRPr lang="en-US" sz="1350" dirty="0"/>
          </a:p>
        </p:txBody>
      </p:sp>
      <p:sp>
        <p:nvSpPr>
          <p:cNvPr id="13" name="Text 11"/>
          <p:cNvSpPr/>
          <p:nvPr/>
        </p:nvSpPr>
        <p:spPr>
          <a:xfrm>
            <a:off x="4645152" y="2633472"/>
            <a:ext cx="3044952" cy="438912"/>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Build backend APIs using FastAPI with request handling and Pydantic validation.</a:t>
            </a:r>
            <a:endParaRPr lang="en-US" sz="1000" dirty="0"/>
          </a:p>
        </p:txBody>
      </p:sp>
      <p:sp>
        <p:nvSpPr>
          <p:cNvPr id="14" name="Shape 12"/>
          <p:cNvSpPr/>
          <p:nvPr/>
        </p:nvSpPr>
        <p:spPr>
          <a:xfrm>
            <a:off x="8193024" y="1554480"/>
            <a:ext cx="3502152" cy="1554480"/>
          </a:xfrm>
          <a:prstGeom prst="rect">
            <a:avLst/>
          </a:prstGeom>
          <a:solidFill>
            <a:srgbClr val="FFFFFF"/>
          </a:solidFill>
          <a:ln/>
          <a:effectLst>
            <a:outerShdw sx="100000" sy="100000" kx="0" ky="0" algn="bl" rotWithShape="0" blurRad="76200" dist="25400" dir="5400000">
              <a:srgbClr val="888888">
                <a:alpha val="20000"/>
              </a:srgbClr>
            </a:outerShdw>
          </a:effectLst>
        </p:spPr>
      </p:sp>
      <p:sp>
        <p:nvSpPr>
          <p:cNvPr id="15" name="Shape 13"/>
          <p:cNvSpPr/>
          <p:nvPr/>
        </p:nvSpPr>
        <p:spPr>
          <a:xfrm>
            <a:off x="8421624" y="1755648"/>
            <a:ext cx="502920" cy="502920"/>
          </a:xfrm>
          <a:prstGeom prst="ellipse">
            <a:avLst/>
          </a:prstGeom>
          <a:solidFill>
            <a:srgbClr val="CADCFC"/>
          </a:solidFill>
          <a:ln/>
        </p:spPr>
      </p:sp>
      <p:sp>
        <p:nvSpPr>
          <p:cNvPr id="16" name="Text 14"/>
          <p:cNvSpPr/>
          <p:nvPr/>
        </p:nvSpPr>
        <p:spPr>
          <a:xfrm>
            <a:off x="8421624" y="1755648"/>
            <a:ext cx="502920" cy="50292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17" name="Text 15"/>
          <p:cNvSpPr/>
          <p:nvPr/>
        </p:nvSpPr>
        <p:spPr>
          <a:xfrm>
            <a:off x="8421624" y="2331720"/>
            <a:ext cx="3044952" cy="320040"/>
          </a:xfrm>
          <a:prstGeom prst="rect">
            <a:avLst/>
          </a:prstGeom>
          <a:noFill/>
          <a:ln/>
        </p:spPr>
        <p:txBody>
          <a:bodyPr wrap="square" lIns="0" tIns="0" rIns="0" bIns="0" rtlCol="0" anchor="ctr"/>
          <a:lstStyle/>
          <a:p>
            <a:pPr indent="0" marL="0">
              <a:buNone/>
            </a:pPr>
            <a:r>
              <a:rPr lang="en-US" sz="1350" b="1" dirty="0">
                <a:solidFill>
                  <a:srgbClr val="1B1F3B"/>
                </a:solidFill>
                <a:latin typeface="Cambria" pitchFamily="34" charset="0"/>
                <a:ea typeface="Cambria" pitchFamily="34" charset="-122"/>
                <a:cs typeface="Cambria" pitchFamily="34" charset="-120"/>
              </a:rPr>
              <a:t>React Fundamentals</a:t>
            </a:r>
            <a:endParaRPr lang="en-US" sz="1350" dirty="0"/>
          </a:p>
        </p:txBody>
      </p:sp>
      <p:sp>
        <p:nvSpPr>
          <p:cNvPr id="18" name="Text 16"/>
          <p:cNvSpPr/>
          <p:nvPr/>
        </p:nvSpPr>
        <p:spPr>
          <a:xfrm>
            <a:off x="8421624" y="2633472"/>
            <a:ext cx="3044952" cy="438912"/>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Learn components, JSX, hooks (useState, useEffect) and dynamic UI building.</a:t>
            </a:r>
            <a:endParaRPr lang="en-US" sz="1000" dirty="0"/>
          </a:p>
        </p:txBody>
      </p:sp>
      <p:sp>
        <p:nvSpPr>
          <p:cNvPr id="19" name="Shape 17"/>
          <p:cNvSpPr/>
          <p:nvPr/>
        </p:nvSpPr>
        <p:spPr>
          <a:xfrm>
            <a:off x="640080" y="3383280"/>
            <a:ext cx="3502152" cy="1554480"/>
          </a:xfrm>
          <a:prstGeom prst="rect">
            <a:avLst/>
          </a:prstGeom>
          <a:solidFill>
            <a:srgbClr val="FFFFFF"/>
          </a:solidFill>
          <a:ln/>
          <a:effectLst>
            <a:outerShdw sx="100000" sy="100000" kx="0" ky="0" algn="bl" rotWithShape="0" blurRad="76200" dist="25400" dir="5400000">
              <a:srgbClr val="888888">
                <a:alpha val="20000"/>
              </a:srgbClr>
            </a:outerShdw>
          </a:effectLst>
        </p:spPr>
      </p:sp>
      <p:sp>
        <p:nvSpPr>
          <p:cNvPr id="20" name="Shape 18"/>
          <p:cNvSpPr/>
          <p:nvPr/>
        </p:nvSpPr>
        <p:spPr>
          <a:xfrm>
            <a:off x="868680" y="3584448"/>
            <a:ext cx="502920" cy="502920"/>
          </a:xfrm>
          <a:prstGeom prst="ellipse">
            <a:avLst/>
          </a:prstGeom>
          <a:solidFill>
            <a:srgbClr val="CADCFC"/>
          </a:solidFill>
          <a:ln/>
        </p:spPr>
      </p:sp>
      <p:sp>
        <p:nvSpPr>
          <p:cNvPr id="21" name="Text 19"/>
          <p:cNvSpPr/>
          <p:nvPr/>
        </p:nvSpPr>
        <p:spPr>
          <a:xfrm>
            <a:off x="868680" y="3584448"/>
            <a:ext cx="502920" cy="50292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2" name="Text 20"/>
          <p:cNvSpPr/>
          <p:nvPr/>
        </p:nvSpPr>
        <p:spPr>
          <a:xfrm>
            <a:off x="868680" y="4160520"/>
            <a:ext cx="3044952" cy="320040"/>
          </a:xfrm>
          <a:prstGeom prst="rect">
            <a:avLst/>
          </a:prstGeom>
          <a:noFill/>
          <a:ln/>
        </p:spPr>
        <p:txBody>
          <a:bodyPr wrap="square" lIns="0" tIns="0" rIns="0" bIns="0" rtlCol="0" anchor="ctr"/>
          <a:lstStyle/>
          <a:p>
            <a:pPr indent="0" marL="0">
              <a:buNone/>
            </a:pPr>
            <a:r>
              <a:rPr lang="en-US" sz="1350" b="1" dirty="0">
                <a:solidFill>
                  <a:srgbClr val="1B1F3B"/>
                </a:solidFill>
                <a:latin typeface="Cambria" pitchFamily="34" charset="0"/>
                <a:ea typeface="Cambria" pitchFamily="34" charset="-122"/>
                <a:cs typeface="Cambria" pitchFamily="34" charset="-120"/>
              </a:rPr>
              <a:t>Database Integration</a:t>
            </a:r>
            <a:endParaRPr lang="en-US" sz="1350" dirty="0"/>
          </a:p>
        </p:txBody>
      </p:sp>
      <p:sp>
        <p:nvSpPr>
          <p:cNvPr id="23" name="Text 21"/>
          <p:cNvSpPr/>
          <p:nvPr/>
        </p:nvSpPr>
        <p:spPr>
          <a:xfrm>
            <a:off x="868680" y="4462272"/>
            <a:ext cx="3044952" cy="438912"/>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Integrate relational databases with SQLAlchemy ORM and perform CRUD operations.</a:t>
            </a:r>
            <a:endParaRPr lang="en-US" sz="1000" dirty="0"/>
          </a:p>
        </p:txBody>
      </p:sp>
      <p:sp>
        <p:nvSpPr>
          <p:cNvPr id="24" name="Shape 22"/>
          <p:cNvSpPr/>
          <p:nvPr/>
        </p:nvSpPr>
        <p:spPr>
          <a:xfrm>
            <a:off x="4416552" y="3383280"/>
            <a:ext cx="3502152" cy="1554480"/>
          </a:xfrm>
          <a:prstGeom prst="rect">
            <a:avLst/>
          </a:prstGeom>
          <a:solidFill>
            <a:srgbClr val="FFFFFF"/>
          </a:solidFill>
          <a:ln/>
          <a:effectLst>
            <a:outerShdw sx="100000" sy="100000" kx="0" ky="0" algn="bl" rotWithShape="0" blurRad="76200" dist="25400" dir="5400000">
              <a:srgbClr val="888888">
                <a:alpha val="20000"/>
              </a:srgbClr>
            </a:outerShdw>
          </a:effectLst>
        </p:spPr>
      </p:sp>
      <p:sp>
        <p:nvSpPr>
          <p:cNvPr id="25" name="Shape 23"/>
          <p:cNvSpPr/>
          <p:nvPr/>
        </p:nvSpPr>
        <p:spPr>
          <a:xfrm>
            <a:off x="4645152" y="3584448"/>
            <a:ext cx="502920" cy="502920"/>
          </a:xfrm>
          <a:prstGeom prst="ellipse">
            <a:avLst/>
          </a:prstGeom>
          <a:solidFill>
            <a:srgbClr val="CADCFC"/>
          </a:solidFill>
          <a:ln/>
        </p:spPr>
      </p:sp>
      <p:sp>
        <p:nvSpPr>
          <p:cNvPr id="26" name="Text 24"/>
          <p:cNvSpPr/>
          <p:nvPr/>
        </p:nvSpPr>
        <p:spPr>
          <a:xfrm>
            <a:off x="4645152" y="3584448"/>
            <a:ext cx="502920" cy="50292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7" name="Text 25"/>
          <p:cNvSpPr/>
          <p:nvPr/>
        </p:nvSpPr>
        <p:spPr>
          <a:xfrm>
            <a:off x="4645152" y="4160520"/>
            <a:ext cx="3044952" cy="320040"/>
          </a:xfrm>
          <a:prstGeom prst="rect">
            <a:avLst/>
          </a:prstGeom>
          <a:noFill/>
          <a:ln/>
        </p:spPr>
        <p:txBody>
          <a:bodyPr wrap="square" lIns="0" tIns="0" rIns="0" bIns="0" rtlCol="0" anchor="ctr"/>
          <a:lstStyle/>
          <a:p>
            <a:pPr indent="0" marL="0">
              <a:buNone/>
            </a:pPr>
            <a:r>
              <a:rPr lang="en-US" sz="1350" b="1" dirty="0">
                <a:solidFill>
                  <a:srgbClr val="1B1F3B"/>
                </a:solidFill>
                <a:latin typeface="Cambria" pitchFamily="34" charset="0"/>
                <a:ea typeface="Cambria" pitchFamily="34" charset="-122"/>
                <a:cs typeface="Cambria" pitchFamily="34" charset="-120"/>
              </a:rPr>
              <a:t>In-Memory Cache with TTL</a:t>
            </a:r>
            <a:endParaRPr lang="en-US" sz="1350" dirty="0"/>
          </a:p>
        </p:txBody>
      </p:sp>
      <p:sp>
        <p:nvSpPr>
          <p:cNvPr id="28" name="Text 26"/>
          <p:cNvSpPr/>
          <p:nvPr/>
        </p:nvSpPr>
        <p:spPr>
          <a:xfrm>
            <a:off x="4645152" y="4462272"/>
            <a:ext cx="3044952" cy="438912"/>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Design a key-value store with hit/miss tracking, TTL expiry, delete &amp; reporting.</a:t>
            </a:r>
            <a:endParaRPr lang="en-US" sz="1000" dirty="0"/>
          </a:p>
        </p:txBody>
      </p:sp>
      <p:sp>
        <p:nvSpPr>
          <p:cNvPr id="29" name="Shape 27"/>
          <p:cNvSpPr/>
          <p:nvPr/>
        </p:nvSpPr>
        <p:spPr>
          <a:xfrm>
            <a:off x="8193024" y="3383280"/>
            <a:ext cx="3502152" cy="1554480"/>
          </a:xfrm>
          <a:prstGeom prst="rect">
            <a:avLst/>
          </a:prstGeom>
          <a:solidFill>
            <a:srgbClr val="FFFFFF"/>
          </a:solidFill>
          <a:ln/>
          <a:effectLst>
            <a:outerShdw sx="100000" sy="100000" kx="0" ky="0" algn="bl" rotWithShape="0" blurRad="76200" dist="25400" dir="5400000">
              <a:srgbClr val="888888">
                <a:alpha val="20000"/>
              </a:srgbClr>
            </a:outerShdw>
          </a:effectLst>
        </p:spPr>
      </p:sp>
      <p:sp>
        <p:nvSpPr>
          <p:cNvPr id="30" name="Shape 28"/>
          <p:cNvSpPr/>
          <p:nvPr/>
        </p:nvSpPr>
        <p:spPr>
          <a:xfrm>
            <a:off x="8421624" y="3584448"/>
            <a:ext cx="502920" cy="502920"/>
          </a:xfrm>
          <a:prstGeom prst="ellipse">
            <a:avLst/>
          </a:prstGeom>
          <a:solidFill>
            <a:srgbClr val="CADCFC"/>
          </a:solidFill>
          <a:ln/>
        </p:spPr>
      </p:sp>
      <p:sp>
        <p:nvSpPr>
          <p:cNvPr id="31" name="Text 29"/>
          <p:cNvSpPr/>
          <p:nvPr/>
        </p:nvSpPr>
        <p:spPr>
          <a:xfrm>
            <a:off x="8421624" y="3584448"/>
            <a:ext cx="502920" cy="50292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32" name="Text 30"/>
          <p:cNvSpPr/>
          <p:nvPr/>
        </p:nvSpPr>
        <p:spPr>
          <a:xfrm>
            <a:off x="8421624" y="4160520"/>
            <a:ext cx="3044952" cy="320040"/>
          </a:xfrm>
          <a:prstGeom prst="rect">
            <a:avLst/>
          </a:prstGeom>
          <a:noFill/>
          <a:ln/>
        </p:spPr>
        <p:txBody>
          <a:bodyPr wrap="square" lIns="0" tIns="0" rIns="0" bIns="0" rtlCol="0" anchor="ctr"/>
          <a:lstStyle/>
          <a:p>
            <a:pPr indent="0" marL="0">
              <a:buNone/>
            </a:pPr>
            <a:r>
              <a:rPr lang="en-US" sz="1350" b="1" dirty="0">
                <a:solidFill>
                  <a:srgbClr val="1B1F3B"/>
                </a:solidFill>
                <a:latin typeface="Cambria" pitchFamily="34" charset="0"/>
                <a:ea typeface="Cambria" pitchFamily="34" charset="-122"/>
                <a:cs typeface="Cambria" pitchFamily="34" charset="-120"/>
              </a:rPr>
              <a:t>Capstone Deployment</a:t>
            </a:r>
            <a:endParaRPr lang="en-US" sz="1350" dirty="0"/>
          </a:p>
        </p:txBody>
      </p:sp>
      <p:sp>
        <p:nvSpPr>
          <p:cNvPr id="33" name="Text 31"/>
          <p:cNvSpPr/>
          <p:nvPr/>
        </p:nvSpPr>
        <p:spPr>
          <a:xfrm>
            <a:off x="8421624" y="4462272"/>
            <a:ext cx="3044952" cy="438912"/>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Build and deploy a complete full-stack capstone application end to end.</a:t>
            </a:r>
            <a:endParaRPr lang="en-US" sz="1000" dirty="0"/>
          </a:p>
        </p:txBody>
      </p:sp>
      <p:sp>
        <p:nvSpPr>
          <p:cNvPr id="34" name="Text 32"/>
          <p:cNvSpPr/>
          <p:nvPr/>
        </p:nvSpPr>
        <p:spPr>
          <a:xfrm>
            <a:off x="457200" y="6547104"/>
            <a:ext cx="8229600" cy="274320"/>
          </a:xfrm>
          <a:prstGeom prst="rect">
            <a:avLst/>
          </a:prstGeom>
          <a:noFill/>
          <a:ln/>
        </p:spPr>
        <p:txBody>
          <a:bodyPr wrap="square" lIns="0" tIns="0" rIns="0" bIns="0" rtlCol="0" anchor="ctr"/>
          <a:lstStyle/>
          <a:p>
            <a:pPr algn="l" indent="0" marL="0">
              <a:buNone/>
            </a:pPr>
            <a:r>
              <a:rPr lang="en-US" sz="1000" dirty="0">
                <a:solidFill>
                  <a:srgbClr val="6B7280"/>
                </a:solidFill>
                <a:latin typeface="Calibri" pitchFamily="34" charset="0"/>
                <a:ea typeface="Calibri" pitchFamily="34" charset="-122"/>
                <a:cs typeface="Calibri" pitchFamily="34" charset="-120"/>
              </a:rPr>
              <a:t>Python Full Stack Development Virtual Internship  •  Sujal Gautam</a:t>
            </a:r>
            <a:endParaRPr lang="en-US" sz="1000" dirty="0"/>
          </a:p>
        </p:txBody>
      </p:sp>
      <p:sp>
        <p:nvSpPr>
          <p:cNvPr id="35" name="Text 33"/>
          <p:cNvSpPr/>
          <p:nvPr/>
        </p:nvSpPr>
        <p:spPr>
          <a:xfrm>
            <a:off x="11277295" y="6547104"/>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7315200" cy="320040"/>
          </a:xfrm>
          <a:prstGeom prst="rect">
            <a:avLst/>
          </a:prstGeom>
          <a:noFill/>
          <a:ln/>
        </p:spPr>
        <p:txBody>
          <a:bodyPr wrap="square" lIns="0" tIns="0" rIns="0" bIns="0" rtlCol="0" anchor="ctr"/>
          <a:lstStyle/>
          <a:p>
            <a:pPr indent="0" marL="0">
              <a:buNone/>
            </a:pPr>
            <a:r>
              <a:rPr lang="en-US" sz="1200" b="1" spc="200" kern="0" dirty="0">
                <a:solidFill>
                  <a:srgbClr val="E0A82E"/>
                </a:solidFill>
                <a:latin typeface="Calibri" pitchFamily="34" charset="0"/>
                <a:ea typeface="Calibri" pitchFamily="34" charset="-122"/>
                <a:cs typeface="Calibri" pitchFamily="34" charset="-120"/>
              </a:rPr>
              <a:t>TECHNOLOGIES &amp; TOOLS</a:t>
            </a:r>
            <a:endParaRPr lang="en-US" sz="1200" dirty="0"/>
          </a:p>
        </p:txBody>
      </p:sp>
      <p:sp>
        <p:nvSpPr>
          <p:cNvPr id="3" name="Text 1"/>
          <p:cNvSpPr/>
          <p:nvPr/>
        </p:nvSpPr>
        <p:spPr>
          <a:xfrm>
            <a:off x="640080" y="749808"/>
            <a:ext cx="10881360" cy="640080"/>
          </a:xfrm>
          <a:prstGeom prst="rect">
            <a:avLst/>
          </a:prstGeom>
          <a:noFill/>
          <a:ln/>
        </p:spPr>
        <p:txBody>
          <a:bodyPr wrap="square" lIns="0" tIns="0" rIns="0" bIns="0" rtlCol="0" anchor="ctr"/>
          <a:lstStyle/>
          <a:p>
            <a:pPr indent="0" marL="0">
              <a:buNone/>
            </a:pPr>
            <a:r>
              <a:rPr lang="en-US" sz="3000" b="1" dirty="0">
                <a:solidFill>
                  <a:srgbClr val="1B1F3B"/>
                </a:solidFill>
                <a:latin typeface="Cambria" pitchFamily="34" charset="0"/>
                <a:ea typeface="Cambria" pitchFamily="34" charset="-122"/>
                <a:cs typeface="Cambria" pitchFamily="34" charset="-120"/>
              </a:rPr>
              <a:t>The Toolkit Behind the Internship</a:t>
            </a:r>
            <a:endParaRPr lang="en-US" sz="3000" dirty="0"/>
          </a:p>
        </p:txBody>
      </p:sp>
      <p:sp>
        <p:nvSpPr>
          <p:cNvPr id="4" name="Shape 2"/>
          <p:cNvSpPr/>
          <p:nvPr/>
        </p:nvSpPr>
        <p:spPr>
          <a:xfrm>
            <a:off x="640080" y="1600200"/>
            <a:ext cx="2542032" cy="1600200"/>
          </a:xfrm>
          <a:prstGeom prst="rect">
            <a:avLst/>
          </a:prstGeom>
          <a:solidFill>
            <a:srgbClr val="F0F3FA"/>
          </a:solidFill>
          <a:ln/>
        </p:spPr>
      </p:sp>
      <p:sp>
        <p:nvSpPr>
          <p:cNvPr id="5" name="Shape 3"/>
          <p:cNvSpPr/>
          <p:nvPr/>
        </p:nvSpPr>
        <p:spPr>
          <a:xfrm>
            <a:off x="1545336" y="1828800"/>
            <a:ext cx="731520" cy="731520"/>
          </a:xfrm>
          <a:prstGeom prst="ellipse">
            <a:avLst/>
          </a:prstGeom>
          <a:solidFill>
            <a:srgbClr val="FFFFFF"/>
          </a:solidFill>
          <a:ln/>
        </p:spPr>
      </p:sp>
      <p:sp>
        <p:nvSpPr>
          <p:cNvPr id="6" name="Text 4"/>
          <p:cNvSpPr/>
          <p:nvPr/>
        </p:nvSpPr>
        <p:spPr>
          <a:xfrm>
            <a:off x="1545336" y="1828800"/>
            <a:ext cx="731520" cy="73152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&lt;/&gt;</a:t>
            </a:r>
            <a:endParaRPr lang="en-US" sz="1600" dirty="0"/>
          </a:p>
        </p:txBody>
      </p:sp>
      <p:sp>
        <p:nvSpPr>
          <p:cNvPr id="7" name="Text 5"/>
          <p:cNvSpPr/>
          <p:nvPr/>
        </p:nvSpPr>
        <p:spPr>
          <a:xfrm>
            <a:off x="777240" y="2624328"/>
            <a:ext cx="2267712" cy="292608"/>
          </a:xfrm>
          <a:prstGeom prst="rect">
            <a:avLst/>
          </a:prstGeom>
          <a:noFill/>
          <a:ln/>
        </p:spPr>
        <p:txBody>
          <a:bodyPr wrap="square" lIns="0" tIns="0" rIns="0" bIns="0" rtlCol="0" anchor="ctr"/>
          <a:lstStyle/>
          <a:p>
            <a:pPr algn="ctr" indent="0" marL="0">
              <a:buNone/>
            </a:pPr>
            <a:r>
              <a:rPr lang="en-US" sz="1300" b="1" dirty="0">
                <a:solidFill>
                  <a:srgbClr val="1B1F3B"/>
                </a:solidFill>
                <a:latin typeface="Cambria" pitchFamily="34" charset="0"/>
                <a:ea typeface="Cambria" pitchFamily="34" charset="-122"/>
                <a:cs typeface="Cambria" pitchFamily="34" charset="-120"/>
              </a:rPr>
              <a:t>Python</a:t>
            </a:r>
            <a:endParaRPr lang="en-US" sz="1300" dirty="0"/>
          </a:p>
        </p:txBody>
      </p:sp>
      <p:sp>
        <p:nvSpPr>
          <p:cNvPr id="8" name="Text 6"/>
          <p:cNvSpPr/>
          <p:nvPr/>
        </p:nvSpPr>
        <p:spPr>
          <a:xfrm>
            <a:off x="731520" y="2907792"/>
            <a:ext cx="2359152" cy="274320"/>
          </a:xfrm>
          <a:prstGeom prst="rect">
            <a:avLst/>
          </a:prstGeom>
          <a:noFill/>
          <a:ln/>
        </p:spPr>
        <p:txBody>
          <a:bodyPr wrap="square" lIns="0" tIns="0" rIns="0" bIns="0" rtlCol="0" anchor="ctr"/>
          <a:lstStyle/>
          <a:p>
            <a:pPr algn="ctr" indent="0" marL="0">
              <a:buNone/>
            </a:pPr>
            <a:r>
              <a:rPr lang="en-US" sz="950" dirty="0">
                <a:solidFill>
                  <a:srgbClr val="6B7280"/>
                </a:solidFill>
                <a:latin typeface="Calibri" pitchFamily="34" charset="0"/>
                <a:ea typeface="Calibri" pitchFamily="34" charset="-122"/>
                <a:cs typeface="Calibri" pitchFamily="34" charset="-120"/>
              </a:rPr>
              <a:t>Core programming language</a:t>
            </a:r>
            <a:endParaRPr lang="en-US" sz="950" dirty="0"/>
          </a:p>
        </p:txBody>
      </p:sp>
      <p:sp>
        <p:nvSpPr>
          <p:cNvPr id="9" name="Shape 7"/>
          <p:cNvSpPr/>
          <p:nvPr/>
        </p:nvSpPr>
        <p:spPr>
          <a:xfrm>
            <a:off x="3401568" y="1600200"/>
            <a:ext cx="2542032" cy="1600200"/>
          </a:xfrm>
          <a:prstGeom prst="rect">
            <a:avLst/>
          </a:prstGeom>
          <a:solidFill>
            <a:srgbClr val="F0F3FA"/>
          </a:solidFill>
          <a:ln/>
        </p:spPr>
      </p:sp>
      <p:sp>
        <p:nvSpPr>
          <p:cNvPr id="10" name="Shape 8"/>
          <p:cNvSpPr/>
          <p:nvPr/>
        </p:nvSpPr>
        <p:spPr>
          <a:xfrm>
            <a:off x="4306824" y="1828800"/>
            <a:ext cx="731520" cy="731520"/>
          </a:xfrm>
          <a:prstGeom prst="ellipse">
            <a:avLst/>
          </a:prstGeom>
          <a:solidFill>
            <a:srgbClr val="FFFFFF"/>
          </a:solidFill>
          <a:ln/>
        </p:spPr>
      </p:sp>
      <p:sp>
        <p:nvSpPr>
          <p:cNvPr id="11" name="Text 9"/>
          <p:cNvSpPr/>
          <p:nvPr/>
        </p:nvSpPr>
        <p:spPr>
          <a:xfrm>
            <a:off x="4306824" y="1828800"/>
            <a:ext cx="731520" cy="73152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a:t>
            </a:r>
            <a:endParaRPr lang="en-US" sz="1600" dirty="0"/>
          </a:p>
        </p:txBody>
      </p:sp>
      <p:sp>
        <p:nvSpPr>
          <p:cNvPr id="12" name="Text 10"/>
          <p:cNvSpPr/>
          <p:nvPr/>
        </p:nvSpPr>
        <p:spPr>
          <a:xfrm>
            <a:off x="3538728" y="2624328"/>
            <a:ext cx="2267712" cy="292608"/>
          </a:xfrm>
          <a:prstGeom prst="rect">
            <a:avLst/>
          </a:prstGeom>
          <a:noFill/>
          <a:ln/>
        </p:spPr>
        <p:txBody>
          <a:bodyPr wrap="square" lIns="0" tIns="0" rIns="0" bIns="0" rtlCol="0" anchor="ctr"/>
          <a:lstStyle/>
          <a:p>
            <a:pPr algn="ctr" indent="0" marL="0">
              <a:buNone/>
            </a:pPr>
            <a:r>
              <a:rPr lang="en-US" sz="1300" b="1" dirty="0">
                <a:solidFill>
                  <a:srgbClr val="1B1F3B"/>
                </a:solidFill>
                <a:latin typeface="Cambria" pitchFamily="34" charset="0"/>
                <a:ea typeface="Cambria" pitchFamily="34" charset="-122"/>
                <a:cs typeface="Cambria" pitchFamily="34" charset="-120"/>
              </a:rPr>
              <a:t>FastAPI</a:t>
            </a:r>
            <a:endParaRPr lang="en-US" sz="1300" dirty="0"/>
          </a:p>
        </p:txBody>
      </p:sp>
      <p:sp>
        <p:nvSpPr>
          <p:cNvPr id="13" name="Text 11"/>
          <p:cNvSpPr/>
          <p:nvPr/>
        </p:nvSpPr>
        <p:spPr>
          <a:xfrm>
            <a:off x="3493008" y="2907792"/>
            <a:ext cx="2359152" cy="274320"/>
          </a:xfrm>
          <a:prstGeom prst="rect">
            <a:avLst/>
          </a:prstGeom>
          <a:noFill/>
          <a:ln/>
        </p:spPr>
        <p:txBody>
          <a:bodyPr wrap="square" lIns="0" tIns="0" rIns="0" bIns="0" rtlCol="0" anchor="ctr"/>
          <a:lstStyle/>
          <a:p>
            <a:pPr algn="ctr" indent="0" marL="0">
              <a:buNone/>
            </a:pPr>
            <a:r>
              <a:rPr lang="en-US" sz="950" dirty="0">
                <a:solidFill>
                  <a:srgbClr val="6B7280"/>
                </a:solidFill>
                <a:latin typeface="Calibri" pitchFamily="34" charset="0"/>
                <a:ea typeface="Calibri" pitchFamily="34" charset="-122"/>
                <a:cs typeface="Calibri" pitchFamily="34" charset="-120"/>
              </a:rPr>
              <a:t>Backend API framework</a:t>
            </a:r>
            <a:endParaRPr lang="en-US" sz="950" dirty="0"/>
          </a:p>
        </p:txBody>
      </p:sp>
      <p:sp>
        <p:nvSpPr>
          <p:cNvPr id="14" name="Shape 12"/>
          <p:cNvSpPr/>
          <p:nvPr/>
        </p:nvSpPr>
        <p:spPr>
          <a:xfrm>
            <a:off x="6163056" y="1600200"/>
            <a:ext cx="2542032" cy="1600200"/>
          </a:xfrm>
          <a:prstGeom prst="rect">
            <a:avLst/>
          </a:prstGeom>
          <a:solidFill>
            <a:srgbClr val="F0F3FA"/>
          </a:solidFill>
          <a:ln/>
        </p:spPr>
      </p:sp>
      <p:sp>
        <p:nvSpPr>
          <p:cNvPr id="15" name="Shape 13"/>
          <p:cNvSpPr/>
          <p:nvPr/>
        </p:nvSpPr>
        <p:spPr>
          <a:xfrm>
            <a:off x="7068312" y="1828800"/>
            <a:ext cx="731520" cy="731520"/>
          </a:xfrm>
          <a:prstGeom prst="ellipse">
            <a:avLst/>
          </a:prstGeom>
          <a:solidFill>
            <a:srgbClr val="FFFFFF"/>
          </a:solidFill>
          <a:ln/>
        </p:spPr>
      </p:sp>
      <p:sp>
        <p:nvSpPr>
          <p:cNvPr id="16" name="Text 14"/>
          <p:cNvSpPr/>
          <p:nvPr/>
        </p:nvSpPr>
        <p:spPr>
          <a:xfrm>
            <a:off x="7068312" y="1828800"/>
            <a:ext cx="731520" cy="73152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a:t>
            </a:r>
            <a:endParaRPr lang="en-US" sz="1600" dirty="0"/>
          </a:p>
        </p:txBody>
      </p:sp>
      <p:sp>
        <p:nvSpPr>
          <p:cNvPr id="17" name="Text 15"/>
          <p:cNvSpPr/>
          <p:nvPr/>
        </p:nvSpPr>
        <p:spPr>
          <a:xfrm>
            <a:off x="6300216" y="2624328"/>
            <a:ext cx="2267712" cy="292608"/>
          </a:xfrm>
          <a:prstGeom prst="rect">
            <a:avLst/>
          </a:prstGeom>
          <a:noFill/>
          <a:ln/>
        </p:spPr>
        <p:txBody>
          <a:bodyPr wrap="square" lIns="0" tIns="0" rIns="0" bIns="0" rtlCol="0" anchor="ctr"/>
          <a:lstStyle/>
          <a:p>
            <a:pPr algn="ctr" indent="0" marL="0">
              <a:buNone/>
            </a:pPr>
            <a:r>
              <a:rPr lang="en-US" sz="1300" b="1" dirty="0">
                <a:solidFill>
                  <a:srgbClr val="1B1F3B"/>
                </a:solidFill>
                <a:latin typeface="Cambria" pitchFamily="34" charset="0"/>
                <a:ea typeface="Cambria" pitchFamily="34" charset="-122"/>
                <a:cs typeface="Cambria" pitchFamily="34" charset="-120"/>
              </a:rPr>
              <a:t>Pydantic</a:t>
            </a:r>
            <a:endParaRPr lang="en-US" sz="1300" dirty="0"/>
          </a:p>
        </p:txBody>
      </p:sp>
      <p:sp>
        <p:nvSpPr>
          <p:cNvPr id="18" name="Text 16"/>
          <p:cNvSpPr/>
          <p:nvPr/>
        </p:nvSpPr>
        <p:spPr>
          <a:xfrm>
            <a:off x="6254496" y="2907792"/>
            <a:ext cx="2359152" cy="274320"/>
          </a:xfrm>
          <a:prstGeom prst="rect">
            <a:avLst/>
          </a:prstGeom>
          <a:noFill/>
          <a:ln/>
        </p:spPr>
        <p:txBody>
          <a:bodyPr wrap="square" lIns="0" tIns="0" rIns="0" bIns="0" rtlCol="0" anchor="ctr"/>
          <a:lstStyle/>
          <a:p>
            <a:pPr algn="ctr" indent="0" marL="0">
              <a:buNone/>
            </a:pPr>
            <a:r>
              <a:rPr lang="en-US" sz="950" dirty="0">
                <a:solidFill>
                  <a:srgbClr val="6B7280"/>
                </a:solidFill>
                <a:latin typeface="Calibri" pitchFamily="34" charset="0"/>
                <a:ea typeface="Calibri" pitchFamily="34" charset="-122"/>
                <a:cs typeface="Calibri" pitchFamily="34" charset="-120"/>
              </a:rPr>
              <a:t>Request &amp; data validation</a:t>
            </a:r>
            <a:endParaRPr lang="en-US" sz="950" dirty="0"/>
          </a:p>
        </p:txBody>
      </p:sp>
      <p:sp>
        <p:nvSpPr>
          <p:cNvPr id="19" name="Shape 17"/>
          <p:cNvSpPr/>
          <p:nvPr/>
        </p:nvSpPr>
        <p:spPr>
          <a:xfrm>
            <a:off x="8924544" y="1600200"/>
            <a:ext cx="2542032" cy="1600200"/>
          </a:xfrm>
          <a:prstGeom prst="rect">
            <a:avLst/>
          </a:prstGeom>
          <a:solidFill>
            <a:srgbClr val="F0F3FA"/>
          </a:solidFill>
          <a:ln/>
        </p:spPr>
      </p:sp>
      <p:sp>
        <p:nvSpPr>
          <p:cNvPr id="20" name="Shape 18"/>
          <p:cNvSpPr/>
          <p:nvPr/>
        </p:nvSpPr>
        <p:spPr>
          <a:xfrm>
            <a:off x="9829800" y="1828800"/>
            <a:ext cx="731520" cy="731520"/>
          </a:xfrm>
          <a:prstGeom prst="ellipse">
            <a:avLst/>
          </a:prstGeom>
          <a:solidFill>
            <a:srgbClr val="FFFFFF"/>
          </a:solidFill>
          <a:ln/>
        </p:spPr>
      </p:sp>
      <p:sp>
        <p:nvSpPr>
          <p:cNvPr id="21" name="Text 19"/>
          <p:cNvSpPr/>
          <p:nvPr/>
        </p:nvSpPr>
        <p:spPr>
          <a:xfrm>
            <a:off x="9829800" y="1828800"/>
            <a:ext cx="731520" cy="73152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a:t>
            </a:r>
            <a:endParaRPr lang="en-US" sz="1600" dirty="0"/>
          </a:p>
        </p:txBody>
      </p:sp>
      <p:sp>
        <p:nvSpPr>
          <p:cNvPr id="22" name="Text 20"/>
          <p:cNvSpPr/>
          <p:nvPr/>
        </p:nvSpPr>
        <p:spPr>
          <a:xfrm>
            <a:off x="9061704" y="2624328"/>
            <a:ext cx="2267712" cy="292608"/>
          </a:xfrm>
          <a:prstGeom prst="rect">
            <a:avLst/>
          </a:prstGeom>
          <a:noFill/>
          <a:ln/>
        </p:spPr>
        <p:txBody>
          <a:bodyPr wrap="square" lIns="0" tIns="0" rIns="0" bIns="0" rtlCol="0" anchor="ctr"/>
          <a:lstStyle/>
          <a:p>
            <a:pPr algn="ctr" indent="0" marL="0">
              <a:buNone/>
            </a:pPr>
            <a:r>
              <a:rPr lang="en-US" sz="1300" b="1" dirty="0">
                <a:solidFill>
                  <a:srgbClr val="1B1F3B"/>
                </a:solidFill>
                <a:latin typeface="Cambria" pitchFamily="34" charset="0"/>
                <a:ea typeface="Cambria" pitchFamily="34" charset="-122"/>
                <a:cs typeface="Cambria" pitchFamily="34" charset="-120"/>
              </a:rPr>
              <a:t>React</a:t>
            </a:r>
            <a:endParaRPr lang="en-US" sz="1300" dirty="0"/>
          </a:p>
        </p:txBody>
      </p:sp>
      <p:sp>
        <p:nvSpPr>
          <p:cNvPr id="23" name="Text 21"/>
          <p:cNvSpPr/>
          <p:nvPr/>
        </p:nvSpPr>
        <p:spPr>
          <a:xfrm>
            <a:off x="9015984" y="2907792"/>
            <a:ext cx="2359152" cy="274320"/>
          </a:xfrm>
          <a:prstGeom prst="rect">
            <a:avLst/>
          </a:prstGeom>
          <a:noFill/>
          <a:ln/>
        </p:spPr>
        <p:txBody>
          <a:bodyPr wrap="square" lIns="0" tIns="0" rIns="0" bIns="0" rtlCol="0" anchor="ctr"/>
          <a:lstStyle/>
          <a:p>
            <a:pPr algn="ctr" indent="0" marL="0">
              <a:buNone/>
            </a:pPr>
            <a:r>
              <a:rPr lang="en-US" sz="950" dirty="0">
                <a:solidFill>
                  <a:srgbClr val="6B7280"/>
                </a:solidFill>
                <a:latin typeface="Calibri" pitchFamily="34" charset="0"/>
                <a:ea typeface="Calibri" pitchFamily="34" charset="-122"/>
                <a:cs typeface="Calibri" pitchFamily="34" charset="-120"/>
              </a:rPr>
              <a:t>Frontend UI &amp; hooks</a:t>
            </a:r>
            <a:endParaRPr lang="en-US" sz="950" dirty="0"/>
          </a:p>
        </p:txBody>
      </p:sp>
      <p:sp>
        <p:nvSpPr>
          <p:cNvPr id="24" name="Shape 22"/>
          <p:cNvSpPr/>
          <p:nvPr/>
        </p:nvSpPr>
        <p:spPr>
          <a:xfrm>
            <a:off x="640080" y="3419856"/>
            <a:ext cx="2542032" cy="1600200"/>
          </a:xfrm>
          <a:prstGeom prst="rect">
            <a:avLst/>
          </a:prstGeom>
          <a:solidFill>
            <a:srgbClr val="F0F3FA"/>
          </a:solidFill>
          <a:ln/>
        </p:spPr>
      </p:sp>
      <p:sp>
        <p:nvSpPr>
          <p:cNvPr id="25" name="Shape 23"/>
          <p:cNvSpPr/>
          <p:nvPr/>
        </p:nvSpPr>
        <p:spPr>
          <a:xfrm>
            <a:off x="1545336" y="3648456"/>
            <a:ext cx="731520" cy="731520"/>
          </a:xfrm>
          <a:prstGeom prst="ellipse">
            <a:avLst/>
          </a:prstGeom>
          <a:solidFill>
            <a:srgbClr val="FFFFFF"/>
          </a:solidFill>
          <a:ln/>
        </p:spPr>
      </p:sp>
      <p:sp>
        <p:nvSpPr>
          <p:cNvPr id="26" name="Text 24"/>
          <p:cNvSpPr/>
          <p:nvPr/>
        </p:nvSpPr>
        <p:spPr>
          <a:xfrm>
            <a:off x="1545336" y="3648456"/>
            <a:ext cx="731520" cy="73152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a:t>
            </a:r>
            <a:endParaRPr lang="en-US" sz="1600" dirty="0"/>
          </a:p>
        </p:txBody>
      </p:sp>
      <p:sp>
        <p:nvSpPr>
          <p:cNvPr id="27" name="Text 25"/>
          <p:cNvSpPr/>
          <p:nvPr/>
        </p:nvSpPr>
        <p:spPr>
          <a:xfrm>
            <a:off x="777240" y="4443984"/>
            <a:ext cx="2267712" cy="292608"/>
          </a:xfrm>
          <a:prstGeom prst="rect">
            <a:avLst/>
          </a:prstGeom>
          <a:noFill/>
          <a:ln/>
        </p:spPr>
        <p:txBody>
          <a:bodyPr wrap="square" lIns="0" tIns="0" rIns="0" bIns="0" rtlCol="0" anchor="ctr"/>
          <a:lstStyle/>
          <a:p>
            <a:pPr algn="ctr" indent="0" marL="0">
              <a:buNone/>
            </a:pPr>
            <a:r>
              <a:rPr lang="en-US" sz="1300" b="1" dirty="0">
                <a:solidFill>
                  <a:srgbClr val="1B1F3B"/>
                </a:solidFill>
                <a:latin typeface="Cambria" pitchFamily="34" charset="0"/>
                <a:ea typeface="Cambria" pitchFamily="34" charset="-122"/>
                <a:cs typeface="Cambria" pitchFamily="34" charset="-120"/>
              </a:rPr>
              <a:t>SQLAlchemy</a:t>
            </a:r>
            <a:endParaRPr lang="en-US" sz="1300" dirty="0"/>
          </a:p>
        </p:txBody>
      </p:sp>
      <p:sp>
        <p:nvSpPr>
          <p:cNvPr id="28" name="Text 26"/>
          <p:cNvSpPr/>
          <p:nvPr/>
        </p:nvSpPr>
        <p:spPr>
          <a:xfrm>
            <a:off x="731520" y="4727448"/>
            <a:ext cx="2359152" cy="274320"/>
          </a:xfrm>
          <a:prstGeom prst="rect">
            <a:avLst/>
          </a:prstGeom>
          <a:noFill/>
          <a:ln/>
        </p:spPr>
        <p:txBody>
          <a:bodyPr wrap="square" lIns="0" tIns="0" rIns="0" bIns="0" rtlCol="0" anchor="ctr"/>
          <a:lstStyle/>
          <a:p>
            <a:pPr algn="ctr" indent="0" marL="0">
              <a:buNone/>
            </a:pPr>
            <a:r>
              <a:rPr lang="en-US" sz="950" dirty="0">
                <a:solidFill>
                  <a:srgbClr val="6B7280"/>
                </a:solidFill>
                <a:latin typeface="Calibri" pitchFamily="34" charset="0"/>
                <a:ea typeface="Calibri" pitchFamily="34" charset="-122"/>
                <a:cs typeface="Calibri" pitchFamily="34" charset="-120"/>
              </a:rPr>
              <a:t>Database ORM &amp; CRUD</a:t>
            </a:r>
            <a:endParaRPr lang="en-US" sz="950" dirty="0"/>
          </a:p>
        </p:txBody>
      </p:sp>
      <p:sp>
        <p:nvSpPr>
          <p:cNvPr id="29" name="Shape 27"/>
          <p:cNvSpPr/>
          <p:nvPr/>
        </p:nvSpPr>
        <p:spPr>
          <a:xfrm>
            <a:off x="3401568" y="3419856"/>
            <a:ext cx="2542032" cy="1600200"/>
          </a:xfrm>
          <a:prstGeom prst="rect">
            <a:avLst/>
          </a:prstGeom>
          <a:solidFill>
            <a:srgbClr val="F0F3FA"/>
          </a:solidFill>
          <a:ln/>
        </p:spPr>
      </p:sp>
      <p:sp>
        <p:nvSpPr>
          <p:cNvPr id="30" name="Shape 28"/>
          <p:cNvSpPr/>
          <p:nvPr/>
        </p:nvSpPr>
        <p:spPr>
          <a:xfrm>
            <a:off x="4306824" y="3648456"/>
            <a:ext cx="731520" cy="731520"/>
          </a:xfrm>
          <a:prstGeom prst="ellipse">
            <a:avLst/>
          </a:prstGeom>
          <a:solidFill>
            <a:srgbClr val="FFFFFF"/>
          </a:solidFill>
          <a:ln/>
        </p:spPr>
      </p:sp>
      <p:sp>
        <p:nvSpPr>
          <p:cNvPr id="31" name="Text 29"/>
          <p:cNvSpPr/>
          <p:nvPr/>
        </p:nvSpPr>
        <p:spPr>
          <a:xfrm>
            <a:off x="4306824" y="3648456"/>
            <a:ext cx="731520" cy="73152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a:t>
            </a:r>
            <a:endParaRPr lang="en-US" sz="1600" dirty="0"/>
          </a:p>
        </p:txBody>
      </p:sp>
      <p:sp>
        <p:nvSpPr>
          <p:cNvPr id="32" name="Text 30"/>
          <p:cNvSpPr/>
          <p:nvPr/>
        </p:nvSpPr>
        <p:spPr>
          <a:xfrm>
            <a:off x="3538728" y="4443984"/>
            <a:ext cx="2267712" cy="292608"/>
          </a:xfrm>
          <a:prstGeom prst="rect">
            <a:avLst/>
          </a:prstGeom>
          <a:noFill/>
          <a:ln/>
        </p:spPr>
        <p:txBody>
          <a:bodyPr wrap="square" lIns="0" tIns="0" rIns="0" bIns="0" rtlCol="0" anchor="ctr"/>
          <a:lstStyle/>
          <a:p>
            <a:pPr algn="ctr" indent="0" marL="0">
              <a:buNone/>
            </a:pPr>
            <a:r>
              <a:rPr lang="en-US" sz="1300" b="1" dirty="0">
                <a:solidFill>
                  <a:srgbClr val="1B1F3B"/>
                </a:solidFill>
                <a:latin typeface="Cambria" pitchFamily="34" charset="0"/>
                <a:ea typeface="Cambria" pitchFamily="34" charset="-122"/>
                <a:cs typeface="Cambria" pitchFamily="34" charset="-120"/>
              </a:rPr>
              <a:t>Redux / Zustand</a:t>
            </a:r>
            <a:endParaRPr lang="en-US" sz="1300" dirty="0"/>
          </a:p>
        </p:txBody>
      </p:sp>
      <p:sp>
        <p:nvSpPr>
          <p:cNvPr id="33" name="Text 31"/>
          <p:cNvSpPr/>
          <p:nvPr/>
        </p:nvSpPr>
        <p:spPr>
          <a:xfrm>
            <a:off x="3493008" y="4727448"/>
            <a:ext cx="2359152" cy="274320"/>
          </a:xfrm>
          <a:prstGeom prst="rect">
            <a:avLst/>
          </a:prstGeom>
          <a:noFill/>
          <a:ln/>
        </p:spPr>
        <p:txBody>
          <a:bodyPr wrap="square" lIns="0" tIns="0" rIns="0" bIns="0" rtlCol="0" anchor="ctr"/>
          <a:lstStyle/>
          <a:p>
            <a:pPr algn="ctr" indent="0" marL="0">
              <a:buNone/>
            </a:pPr>
            <a:r>
              <a:rPr lang="en-US" sz="950" dirty="0">
                <a:solidFill>
                  <a:srgbClr val="6B7280"/>
                </a:solidFill>
                <a:latin typeface="Calibri" pitchFamily="34" charset="0"/>
                <a:ea typeface="Calibri" pitchFamily="34" charset="-122"/>
                <a:cs typeface="Calibri" pitchFamily="34" charset="-120"/>
              </a:rPr>
              <a:t>Frontend state management</a:t>
            </a:r>
            <a:endParaRPr lang="en-US" sz="950" dirty="0"/>
          </a:p>
        </p:txBody>
      </p:sp>
      <p:sp>
        <p:nvSpPr>
          <p:cNvPr id="34" name="Shape 32"/>
          <p:cNvSpPr/>
          <p:nvPr/>
        </p:nvSpPr>
        <p:spPr>
          <a:xfrm>
            <a:off x="6163056" y="3419856"/>
            <a:ext cx="2542032" cy="1600200"/>
          </a:xfrm>
          <a:prstGeom prst="rect">
            <a:avLst/>
          </a:prstGeom>
          <a:solidFill>
            <a:srgbClr val="F0F3FA"/>
          </a:solidFill>
          <a:ln/>
        </p:spPr>
      </p:sp>
      <p:sp>
        <p:nvSpPr>
          <p:cNvPr id="35" name="Shape 33"/>
          <p:cNvSpPr/>
          <p:nvPr/>
        </p:nvSpPr>
        <p:spPr>
          <a:xfrm>
            <a:off x="7068312" y="3648456"/>
            <a:ext cx="731520" cy="731520"/>
          </a:xfrm>
          <a:prstGeom prst="ellipse">
            <a:avLst/>
          </a:prstGeom>
          <a:solidFill>
            <a:srgbClr val="FFFFFF"/>
          </a:solidFill>
          <a:ln/>
        </p:spPr>
      </p:sp>
      <p:sp>
        <p:nvSpPr>
          <p:cNvPr id="36" name="Text 34"/>
          <p:cNvSpPr/>
          <p:nvPr/>
        </p:nvSpPr>
        <p:spPr>
          <a:xfrm>
            <a:off x="7068312" y="3648456"/>
            <a:ext cx="731520" cy="73152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a:t>
            </a:r>
            <a:endParaRPr lang="en-US" sz="1600" dirty="0"/>
          </a:p>
        </p:txBody>
      </p:sp>
      <p:sp>
        <p:nvSpPr>
          <p:cNvPr id="37" name="Text 35"/>
          <p:cNvSpPr/>
          <p:nvPr/>
        </p:nvSpPr>
        <p:spPr>
          <a:xfrm>
            <a:off x="6300216" y="4443984"/>
            <a:ext cx="2267712" cy="292608"/>
          </a:xfrm>
          <a:prstGeom prst="rect">
            <a:avLst/>
          </a:prstGeom>
          <a:noFill/>
          <a:ln/>
        </p:spPr>
        <p:txBody>
          <a:bodyPr wrap="square" lIns="0" tIns="0" rIns="0" bIns="0" rtlCol="0" anchor="ctr"/>
          <a:lstStyle/>
          <a:p>
            <a:pPr algn="ctr" indent="0" marL="0">
              <a:buNone/>
            </a:pPr>
            <a:r>
              <a:rPr lang="en-US" sz="1300" b="1" dirty="0">
                <a:solidFill>
                  <a:srgbClr val="1B1F3B"/>
                </a:solidFill>
                <a:latin typeface="Cambria" pitchFamily="34" charset="0"/>
                <a:ea typeface="Cambria" pitchFamily="34" charset="-122"/>
                <a:cs typeface="Cambria" pitchFamily="34" charset="-120"/>
              </a:rPr>
              <a:t>Docker</a:t>
            </a:r>
            <a:endParaRPr lang="en-US" sz="1300" dirty="0"/>
          </a:p>
        </p:txBody>
      </p:sp>
      <p:sp>
        <p:nvSpPr>
          <p:cNvPr id="38" name="Text 36"/>
          <p:cNvSpPr/>
          <p:nvPr/>
        </p:nvSpPr>
        <p:spPr>
          <a:xfrm>
            <a:off x="6254496" y="4727448"/>
            <a:ext cx="2359152" cy="274320"/>
          </a:xfrm>
          <a:prstGeom prst="rect">
            <a:avLst/>
          </a:prstGeom>
          <a:noFill/>
          <a:ln/>
        </p:spPr>
        <p:txBody>
          <a:bodyPr wrap="square" lIns="0" tIns="0" rIns="0" bIns="0" rtlCol="0" anchor="ctr"/>
          <a:lstStyle/>
          <a:p>
            <a:pPr algn="ctr" indent="0" marL="0">
              <a:buNone/>
            </a:pPr>
            <a:r>
              <a:rPr lang="en-US" sz="950" dirty="0">
                <a:solidFill>
                  <a:srgbClr val="6B7280"/>
                </a:solidFill>
                <a:latin typeface="Calibri" pitchFamily="34" charset="0"/>
                <a:ea typeface="Calibri" pitchFamily="34" charset="-122"/>
                <a:cs typeface="Calibri" pitchFamily="34" charset="-120"/>
              </a:rPr>
              <a:t>Testing &amp; deployment</a:t>
            </a:r>
            <a:endParaRPr lang="en-US" sz="950" dirty="0"/>
          </a:p>
        </p:txBody>
      </p:sp>
      <p:sp>
        <p:nvSpPr>
          <p:cNvPr id="39" name="Shape 37"/>
          <p:cNvSpPr/>
          <p:nvPr/>
        </p:nvSpPr>
        <p:spPr>
          <a:xfrm>
            <a:off x="8924544" y="3419856"/>
            <a:ext cx="2542032" cy="1600200"/>
          </a:xfrm>
          <a:prstGeom prst="rect">
            <a:avLst/>
          </a:prstGeom>
          <a:solidFill>
            <a:srgbClr val="F0F3FA"/>
          </a:solidFill>
          <a:ln/>
        </p:spPr>
      </p:sp>
      <p:sp>
        <p:nvSpPr>
          <p:cNvPr id="40" name="Shape 38"/>
          <p:cNvSpPr/>
          <p:nvPr/>
        </p:nvSpPr>
        <p:spPr>
          <a:xfrm>
            <a:off x="9829800" y="3648456"/>
            <a:ext cx="731520" cy="731520"/>
          </a:xfrm>
          <a:prstGeom prst="ellipse">
            <a:avLst/>
          </a:prstGeom>
          <a:solidFill>
            <a:srgbClr val="FFFFFF"/>
          </a:solidFill>
          <a:ln/>
        </p:spPr>
      </p:sp>
      <p:sp>
        <p:nvSpPr>
          <p:cNvPr id="41" name="Text 39"/>
          <p:cNvSpPr/>
          <p:nvPr/>
        </p:nvSpPr>
        <p:spPr>
          <a:xfrm>
            <a:off x="9829800" y="3648456"/>
            <a:ext cx="731520" cy="73152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a:t>
            </a:r>
            <a:endParaRPr lang="en-US" sz="1600" dirty="0"/>
          </a:p>
        </p:txBody>
      </p:sp>
      <p:sp>
        <p:nvSpPr>
          <p:cNvPr id="42" name="Text 40"/>
          <p:cNvSpPr/>
          <p:nvPr/>
        </p:nvSpPr>
        <p:spPr>
          <a:xfrm>
            <a:off x="9061704" y="4443984"/>
            <a:ext cx="2267712" cy="292608"/>
          </a:xfrm>
          <a:prstGeom prst="rect">
            <a:avLst/>
          </a:prstGeom>
          <a:noFill/>
          <a:ln/>
        </p:spPr>
        <p:txBody>
          <a:bodyPr wrap="square" lIns="0" tIns="0" rIns="0" bIns="0" rtlCol="0" anchor="ctr"/>
          <a:lstStyle/>
          <a:p>
            <a:pPr algn="ctr" indent="0" marL="0">
              <a:buNone/>
            </a:pPr>
            <a:r>
              <a:rPr lang="en-US" sz="1300" b="1" dirty="0">
                <a:solidFill>
                  <a:srgbClr val="1B1F3B"/>
                </a:solidFill>
                <a:latin typeface="Cambria" pitchFamily="34" charset="0"/>
                <a:ea typeface="Cambria" pitchFamily="34" charset="-122"/>
                <a:cs typeface="Cambria" pitchFamily="34" charset="-120"/>
              </a:rPr>
              <a:t>TTL Caching</a:t>
            </a:r>
            <a:endParaRPr lang="en-US" sz="1300" dirty="0"/>
          </a:p>
        </p:txBody>
      </p:sp>
      <p:sp>
        <p:nvSpPr>
          <p:cNvPr id="43" name="Text 41"/>
          <p:cNvSpPr/>
          <p:nvPr/>
        </p:nvSpPr>
        <p:spPr>
          <a:xfrm>
            <a:off x="9015984" y="4727448"/>
            <a:ext cx="2359152" cy="274320"/>
          </a:xfrm>
          <a:prstGeom prst="rect">
            <a:avLst/>
          </a:prstGeom>
          <a:noFill/>
          <a:ln/>
        </p:spPr>
        <p:txBody>
          <a:bodyPr wrap="square" lIns="0" tIns="0" rIns="0" bIns="0" rtlCol="0" anchor="ctr"/>
          <a:lstStyle/>
          <a:p>
            <a:pPr algn="ctr" indent="0" marL="0">
              <a:buNone/>
            </a:pPr>
            <a:r>
              <a:rPr lang="en-US" sz="950" dirty="0">
                <a:solidFill>
                  <a:srgbClr val="6B7280"/>
                </a:solidFill>
                <a:latin typeface="Calibri" pitchFamily="34" charset="0"/>
                <a:ea typeface="Calibri" pitchFamily="34" charset="-122"/>
                <a:cs typeface="Calibri" pitchFamily="34" charset="-120"/>
              </a:rPr>
              <a:t>Key-value store, in-memory</a:t>
            </a:r>
            <a:endParaRPr lang="en-US" sz="950" dirty="0"/>
          </a:p>
        </p:txBody>
      </p:sp>
      <p:sp>
        <p:nvSpPr>
          <p:cNvPr id="44" name="Text 42"/>
          <p:cNvSpPr/>
          <p:nvPr/>
        </p:nvSpPr>
        <p:spPr>
          <a:xfrm>
            <a:off x="457200" y="6547104"/>
            <a:ext cx="8229600" cy="274320"/>
          </a:xfrm>
          <a:prstGeom prst="rect">
            <a:avLst/>
          </a:prstGeom>
          <a:noFill/>
          <a:ln/>
        </p:spPr>
        <p:txBody>
          <a:bodyPr wrap="square" lIns="0" tIns="0" rIns="0" bIns="0" rtlCol="0" anchor="ctr"/>
          <a:lstStyle/>
          <a:p>
            <a:pPr algn="l" indent="0" marL="0">
              <a:buNone/>
            </a:pPr>
            <a:r>
              <a:rPr lang="en-US" sz="1000" dirty="0">
                <a:solidFill>
                  <a:srgbClr val="6B7280"/>
                </a:solidFill>
                <a:latin typeface="Calibri" pitchFamily="34" charset="0"/>
                <a:ea typeface="Calibri" pitchFamily="34" charset="-122"/>
                <a:cs typeface="Calibri" pitchFamily="34" charset="-120"/>
              </a:rPr>
              <a:t>Python Full Stack Development Virtual Internship  •  Sujal Gautam</a:t>
            </a:r>
            <a:endParaRPr lang="en-US" sz="1000" dirty="0"/>
          </a:p>
        </p:txBody>
      </p:sp>
      <p:sp>
        <p:nvSpPr>
          <p:cNvPr id="45" name="Text 43"/>
          <p:cNvSpPr/>
          <p:nvPr/>
        </p:nvSpPr>
        <p:spPr>
          <a:xfrm>
            <a:off x="11277295" y="6547104"/>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640080" y="457200"/>
            <a:ext cx="7315200" cy="320040"/>
          </a:xfrm>
          <a:prstGeom prst="rect">
            <a:avLst/>
          </a:prstGeom>
          <a:noFill/>
          <a:ln/>
        </p:spPr>
        <p:txBody>
          <a:bodyPr wrap="square" lIns="0" tIns="0" rIns="0" bIns="0" rtlCol="0" anchor="ctr"/>
          <a:lstStyle/>
          <a:p>
            <a:pPr indent="0" marL="0">
              <a:buNone/>
            </a:pPr>
            <a:r>
              <a:rPr lang="en-US" sz="1200" b="1" spc="200" kern="0" dirty="0">
                <a:solidFill>
                  <a:srgbClr val="E0A82E"/>
                </a:solidFill>
                <a:latin typeface="Calibri" pitchFamily="34" charset="0"/>
                <a:ea typeface="Calibri" pitchFamily="34" charset="-122"/>
                <a:cs typeface="Calibri" pitchFamily="34" charset="-120"/>
              </a:rPr>
              <a:t>SYSTEM ARCHITECTURE</a:t>
            </a:r>
            <a:endParaRPr lang="en-US" sz="1200" dirty="0"/>
          </a:p>
        </p:txBody>
      </p:sp>
      <p:sp>
        <p:nvSpPr>
          <p:cNvPr id="3" name="Text 1"/>
          <p:cNvSpPr/>
          <p:nvPr/>
        </p:nvSpPr>
        <p:spPr>
          <a:xfrm>
            <a:off x="640080" y="749808"/>
            <a:ext cx="10881360" cy="64008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From Command Input to Cache Report</a:t>
            </a:r>
            <a:endParaRPr lang="en-US" sz="2800" dirty="0"/>
          </a:p>
        </p:txBody>
      </p:sp>
      <p:sp>
        <p:nvSpPr>
          <p:cNvPr id="4" name="Shape 2"/>
          <p:cNvSpPr/>
          <p:nvPr/>
        </p:nvSpPr>
        <p:spPr>
          <a:xfrm>
            <a:off x="640080" y="1600200"/>
            <a:ext cx="10881360" cy="548640"/>
          </a:xfrm>
          <a:prstGeom prst="rect">
            <a:avLst/>
          </a:prstGeom>
          <a:solidFill>
            <a:srgbClr val="161C4A"/>
          </a:solidFill>
          <a:ln/>
        </p:spPr>
      </p:sp>
      <p:sp>
        <p:nvSpPr>
          <p:cNvPr id="5" name="Shape 3"/>
          <p:cNvSpPr/>
          <p:nvPr/>
        </p:nvSpPr>
        <p:spPr>
          <a:xfrm>
            <a:off x="868680" y="1673352"/>
            <a:ext cx="402336" cy="402336"/>
          </a:xfrm>
          <a:prstGeom prst="ellipse">
            <a:avLst/>
          </a:prstGeom>
          <a:solidFill>
            <a:srgbClr val="CADCFC"/>
          </a:solidFill>
          <a:ln/>
        </p:spPr>
      </p:sp>
      <p:sp>
        <p:nvSpPr>
          <p:cNvPr id="6" name="Text 4"/>
          <p:cNvSpPr/>
          <p:nvPr/>
        </p:nvSpPr>
        <p:spPr>
          <a:xfrm>
            <a:off x="868680" y="1673352"/>
            <a:ext cx="402336" cy="402336"/>
          </a:xfrm>
          <a:prstGeom prst="rect">
            <a:avLst/>
          </a:prstGeom>
          <a:noFill/>
          <a:ln/>
        </p:spPr>
        <p:txBody>
          <a:bodyPr wrap="square" lIns="0" tIns="0" rIns="0" bIns="0" rtlCol="0" anchor="ctr"/>
          <a:lstStyle/>
          <a:p>
            <a:pPr algn="ctr" indent="0" marL="0">
              <a:buNone/>
            </a:pPr>
            <a:r>
              <a:rPr lang="en-US" sz="1400" dirty="0">
                <a:solidFill>
                  <a:srgbClr val="000000"/>
                </a:solidFill>
              </a:rPr>
              <a:t>📝</a:t>
            </a:r>
            <a:endParaRPr lang="en-US" sz="1400" dirty="0"/>
          </a:p>
        </p:txBody>
      </p:sp>
      <p:sp>
        <p:nvSpPr>
          <p:cNvPr id="7" name="Text 5"/>
          <p:cNvSpPr/>
          <p:nvPr/>
        </p:nvSpPr>
        <p:spPr>
          <a:xfrm>
            <a:off x="1463040" y="1600200"/>
            <a:ext cx="2377440" cy="5486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Input Layer</a:t>
            </a:r>
            <a:endParaRPr lang="en-US" sz="1300" dirty="0"/>
          </a:p>
        </p:txBody>
      </p:sp>
      <p:sp>
        <p:nvSpPr>
          <p:cNvPr id="8" name="Text 6"/>
          <p:cNvSpPr/>
          <p:nvPr/>
        </p:nvSpPr>
        <p:spPr>
          <a:xfrm>
            <a:off x="3931920" y="1600200"/>
            <a:ext cx="7360920" cy="54864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Commands read from stdin (SET, GET, DELETE, STATS)</a:t>
            </a:r>
            <a:endParaRPr lang="en-US" sz="1200" dirty="0"/>
          </a:p>
        </p:txBody>
      </p:sp>
      <p:sp>
        <p:nvSpPr>
          <p:cNvPr id="9" name="Text 7"/>
          <p:cNvSpPr/>
          <p:nvPr/>
        </p:nvSpPr>
        <p:spPr>
          <a:xfrm>
            <a:off x="868680" y="2148840"/>
            <a:ext cx="402336" cy="109728"/>
          </a:xfrm>
          <a:prstGeom prst="rect">
            <a:avLst/>
          </a:prstGeom>
          <a:noFill/>
          <a:ln/>
        </p:spPr>
        <p:txBody>
          <a:bodyPr wrap="square" lIns="0" tIns="0" rIns="0" bIns="0" rtlCol="0" anchor="ctr"/>
          <a:lstStyle/>
          <a:p>
            <a:pPr algn="ctr" indent="0" marL="0">
              <a:buNone/>
            </a:pPr>
            <a:r>
              <a:rPr lang="en-US" sz="1000" dirty="0">
                <a:solidFill>
                  <a:srgbClr val="E0A82E"/>
                </a:solidFill>
              </a:rPr>
              <a:t>↓</a:t>
            </a:r>
            <a:endParaRPr lang="en-US" sz="1000" dirty="0"/>
          </a:p>
        </p:txBody>
      </p:sp>
      <p:sp>
        <p:nvSpPr>
          <p:cNvPr id="10" name="Shape 8"/>
          <p:cNvSpPr/>
          <p:nvPr/>
        </p:nvSpPr>
        <p:spPr>
          <a:xfrm>
            <a:off x="640080" y="2258568"/>
            <a:ext cx="10881360" cy="548640"/>
          </a:xfrm>
          <a:prstGeom prst="rect">
            <a:avLst/>
          </a:prstGeom>
          <a:solidFill>
            <a:srgbClr val="161C4A"/>
          </a:solidFill>
          <a:ln/>
        </p:spPr>
      </p:sp>
      <p:sp>
        <p:nvSpPr>
          <p:cNvPr id="11" name="Shape 9"/>
          <p:cNvSpPr/>
          <p:nvPr/>
        </p:nvSpPr>
        <p:spPr>
          <a:xfrm>
            <a:off x="868680" y="2331720"/>
            <a:ext cx="402336" cy="402336"/>
          </a:xfrm>
          <a:prstGeom prst="ellipse">
            <a:avLst/>
          </a:prstGeom>
          <a:solidFill>
            <a:srgbClr val="CADCFC"/>
          </a:solidFill>
          <a:ln/>
        </p:spPr>
      </p:sp>
      <p:sp>
        <p:nvSpPr>
          <p:cNvPr id="12" name="Text 10"/>
          <p:cNvSpPr/>
          <p:nvPr/>
        </p:nvSpPr>
        <p:spPr>
          <a:xfrm>
            <a:off x="868680" y="2331720"/>
            <a:ext cx="402336" cy="402336"/>
          </a:xfrm>
          <a:prstGeom prst="rect">
            <a:avLst/>
          </a:prstGeom>
          <a:noFill/>
          <a:ln/>
        </p:spPr>
        <p:txBody>
          <a:bodyPr wrap="square" lIns="0" tIns="0" rIns="0" bIns="0" rtlCol="0" anchor="ctr"/>
          <a:lstStyle/>
          <a:p>
            <a:pPr algn="ctr" indent="0" marL="0">
              <a:buNone/>
            </a:pPr>
            <a:r>
              <a:rPr lang="en-US" sz="1400" dirty="0">
                <a:solidFill>
                  <a:srgbClr val="000000"/>
                </a:solidFill>
              </a:rPr>
              <a:t>🗄</a:t>
            </a:r>
            <a:endParaRPr lang="en-US" sz="1400" dirty="0"/>
          </a:p>
        </p:txBody>
      </p:sp>
      <p:sp>
        <p:nvSpPr>
          <p:cNvPr id="13" name="Text 11"/>
          <p:cNvSpPr/>
          <p:nvPr/>
        </p:nvSpPr>
        <p:spPr>
          <a:xfrm>
            <a:off x="1463040" y="2258568"/>
            <a:ext cx="2377440" cy="5486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Storage Layer</a:t>
            </a:r>
            <a:endParaRPr lang="en-US" sz="1300" dirty="0"/>
          </a:p>
        </p:txBody>
      </p:sp>
      <p:sp>
        <p:nvSpPr>
          <p:cNvPr id="14" name="Text 12"/>
          <p:cNvSpPr/>
          <p:nvPr/>
        </p:nvSpPr>
        <p:spPr>
          <a:xfrm>
            <a:off x="3931920" y="2258568"/>
            <a:ext cx="7360920" cy="54864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Key-value pairs held in a Python dictionary</a:t>
            </a:r>
            <a:endParaRPr lang="en-US" sz="1200" dirty="0"/>
          </a:p>
        </p:txBody>
      </p:sp>
      <p:sp>
        <p:nvSpPr>
          <p:cNvPr id="15" name="Text 13"/>
          <p:cNvSpPr/>
          <p:nvPr/>
        </p:nvSpPr>
        <p:spPr>
          <a:xfrm>
            <a:off x="868680" y="2807208"/>
            <a:ext cx="402336" cy="109728"/>
          </a:xfrm>
          <a:prstGeom prst="rect">
            <a:avLst/>
          </a:prstGeom>
          <a:noFill/>
          <a:ln/>
        </p:spPr>
        <p:txBody>
          <a:bodyPr wrap="square" lIns="0" tIns="0" rIns="0" bIns="0" rtlCol="0" anchor="ctr"/>
          <a:lstStyle/>
          <a:p>
            <a:pPr algn="ctr" indent="0" marL="0">
              <a:buNone/>
            </a:pPr>
            <a:r>
              <a:rPr lang="en-US" sz="1000" dirty="0">
                <a:solidFill>
                  <a:srgbClr val="E0A82E"/>
                </a:solidFill>
              </a:rPr>
              <a:t>↓</a:t>
            </a:r>
            <a:endParaRPr lang="en-US" sz="1000" dirty="0"/>
          </a:p>
        </p:txBody>
      </p:sp>
      <p:sp>
        <p:nvSpPr>
          <p:cNvPr id="16" name="Shape 14"/>
          <p:cNvSpPr/>
          <p:nvPr/>
        </p:nvSpPr>
        <p:spPr>
          <a:xfrm>
            <a:off x="640080" y="2916936"/>
            <a:ext cx="10881360" cy="548640"/>
          </a:xfrm>
          <a:prstGeom prst="rect">
            <a:avLst/>
          </a:prstGeom>
          <a:solidFill>
            <a:srgbClr val="161C4A"/>
          </a:solidFill>
          <a:ln/>
        </p:spPr>
      </p:sp>
      <p:sp>
        <p:nvSpPr>
          <p:cNvPr id="17" name="Shape 15"/>
          <p:cNvSpPr/>
          <p:nvPr/>
        </p:nvSpPr>
        <p:spPr>
          <a:xfrm>
            <a:off x="868680" y="2990088"/>
            <a:ext cx="402336" cy="402336"/>
          </a:xfrm>
          <a:prstGeom prst="ellipse">
            <a:avLst/>
          </a:prstGeom>
          <a:solidFill>
            <a:srgbClr val="CADCFC"/>
          </a:solidFill>
          <a:ln/>
        </p:spPr>
      </p:sp>
      <p:sp>
        <p:nvSpPr>
          <p:cNvPr id="18" name="Text 16"/>
          <p:cNvSpPr/>
          <p:nvPr/>
        </p:nvSpPr>
        <p:spPr>
          <a:xfrm>
            <a:off x="868680" y="2990088"/>
            <a:ext cx="402336" cy="402336"/>
          </a:xfrm>
          <a:prstGeom prst="rect">
            <a:avLst/>
          </a:prstGeom>
          <a:noFill/>
          <a:ln/>
        </p:spPr>
        <p:txBody>
          <a:bodyPr wrap="square" lIns="0" tIns="0" rIns="0" bIns="0" rtlCol="0" anchor="ctr"/>
          <a:lstStyle/>
          <a:p>
            <a:pPr algn="ctr" indent="0" marL="0">
              <a:buNone/>
            </a:pPr>
            <a:r>
              <a:rPr lang="en-US" sz="1400" dirty="0">
                <a:solidFill>
                  <a:srgbClr val="000000"/>
                </a:solidFill>
              </a:rPr>
              <a:t>⏱</a:t>
            </a:r>
            <a:endParaRPr lang="en-US" sz="1400" dirty="0"/>
          </a:p>
        </p:txBody>
      </p:sp>
      <p:sp>
        <p:nvSpPr>
          <p:cNvPr id="19" name="Text 17"/>
          <p:cNvSpPr/>
          <p:nvPr/>
        </p:nvSpPr>
        <p:spPr>
          <a:xfrm>
            <a:off x="1463040" y="2916936"/>
            <a:ext cx="2377440" cy="5486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TTL Layer</a:t>
            </a:r>
            <a:endParaRPr lang="en-US" sz="1300" dirty="0"/>
          </a:p>
        </p:txBody>
      </p:sp>
      <p:sp>
        <p:nvSpPr>
          <p:cNvPr id="20" name="Text 18"/>
          <p:cNvSpPr/>
          <p:nvPr/>
        </p:nvSpPr>
        <p:spPr>
          <a:xfrm>
            <a:off x="3931920" y="2916936"/>
            <a:ext cx="7360920" cy="54864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Expiry timestamps attached; stale entries auto-invalidated</a:t>
            </a:r>
            <a:endParaRPr lang="en-US" sz="1200" dirty="0"/>
          </a:p>
        </p:txBody>
      </p:sp>
      <p:sp>
        <p:nvSpPr>
          <p:cNvPr id="21" name="Text 19"/>
          <p:cNvSpPr/>
          <p:nvPr/>
        </p:nvSpPr>
        <p:spPr>
          <a:xfrm>
            <a:off x="868680" y="3465576"/>
            <a:ext cx="402336" cy="109728"/>
          </a:xfrm>
          <a:prstGeom prst="rect">
            <a:avLst/>
          </a:prstGeom>
          <a:noFill/>
          <a:ln/>
        </p:spPr>
        <p:txBody>
          <a:bodyPr wrap="square" lIns="0" tIns="0" rIns="0" bIns="0" rtlCol="0" anchor="ctr"/>
          <a:lstStyle/>
          <a:p>
            <a:pPr algn="ctr" indent="0" marL="0">
              <a:buNone/>
            </a:pPr>
            <a:r>
              <a:rPr lang="en-US" sz="1000" dirty="0">
                <a:solidFill>
                  <a:srgbClr val="E0A82E"/>
                </a:solidFill>
              </a:rPr>
              <a:t>↓</a:t>
            </a:r>
            <a:endParaRPr lang="en-US" sz="1000" dirty="0"/>
          </a:p>
        </p:txBody>
      </p:sp>
      <p:sp>
        <p:nvSpPr>
          <p:cNvPr id="22" name="Shape 20"/>
          <p:cNvSpPr/>
          <p:nvPr/>
        </p:nvSpPr>
        <p:spPr>
          <a:xfrm>
            <a:off x="640080" y="3575304"/>
            <a:ext cx="10881360" cy="548640"/>
          </a:xfrm>
          <a:prstGeom prst="rect">
            <a:avLst/>
          </a:prstGeom>
          <a:solidFill>
            <a:srgbClr val="161C4A"/>
          </a:solidFill>
          <a:ln/>
        </p:spPr>
      </p:sp>
      <p:sp>
        <p:nvSpPr>
          <p:cNvPr id="23" name="Shape 21"/>
          <p:cNvSpPr/>
          <p:nvPr/>
        </p:nvSpPr>
        <p:spPr>
          <a:xfrm>
            <a:off x="868680" y="3648456"/>
            <a:ext cx="402336" cy="402336"/>
          </a:xfrm>
          <a:prstGeom prst="ellipse">
            <a:avLst/>
          </a:prstGeom>
          <a:solidFill>
            <a:srgbClr val="CADCFC"/>
          </a:solidFill>
          <a:ln/>
        </p:spPr>
      </p:sp>
      <p:sp>
        <p:nvSpPr>
          <p:cNvPr id="24" name="Text 22"/>
          <p:cNvSpPr/>
          <p:nvPr/>
        </p:nvSpPr>
        <p:spPr>
          <a:xfrm>
            <a:off x="868680" y="3648456"/>
            <a:ext cx="402336" cy="402336"/>
          </a:xfrm>
          <a:prstGeom prst="rect">
            <a:avLst/>
          </a:prstGeom>
          <a:noFill/>
          <a:ln/>
        </p:spPr>
        <p:txBody>
          <a:bodyPr wrap="square" lIns="0" tIns="0" rIns="0" bIns="0" rtlCol="0" anchor="ctr"/>
          <a:lstStyle/>
          <a:p>
            <a:pPr algn="ctr" indent="0" marL="0">
              <a:buNone/>
            </a:pPr>
            <a:r>
              <a:rPr lang="en-US" sz="1400" dirty="0">
                <a:solidFill>
                  <a:srgbClr val="000000"/>
                </a:solidFill>
              </a:rPr>
              <a:t>📊</a:t>
            </a:r>
            <a:endParaRPr lang="en-US" sz="1400" dirty="0"/>
          </a:p>
        </p:txBody>
      </p:sp>
      <p:sp>
        <p:nvSpPr>
          <p:cNvPr id="25" name="Text 23"/>
          <p:cNvSpPr/>
          <p:nvPr/>
        </p:nvSpPr>
        <p:spPr>
          <a:xfrm>
            <a:off x="1463040" y="3575304"/>
            <a:ext cx="2377440" cy="5486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Metrics Layer</a:t>
            </a:r>
            <a:endParaRPr lang="en-US" sz="1300" dirty="0"/>
          </a:p>
        </p:txBody>
      </p:sp>
      <p:sp>
        <p:nvSpPr>
          <p:cNvPr id="26" name="Text 24"/>
          <p:cNvSpPr/>
          <p:nvPr/>
        </p:nvSpPr>
        <p:spPr>
          <a:xfrm>
            <a:off x="3931920" y="3575304"/>
            <a:ext cx="7360920" cy="54864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Hit / miss counters track cache performance</a:t>
            </a:r>
            <a:endParaRPr lang="en-US" sz="1200" dirty="0"/>
          </a:p>
        </p:txBody>
      </p:sp>
      <p:sp>
        <p:nvSpPr>
          <p:cNvPr id="27" name="Text 25"/>
          <p:cNvSpPr/>
          <p:nvPr/>
        </p:nvSpPr>
        <p:spPr>
          <a:xfrm>
            <a:off x="868680" y="4123944"/>
            <a:ext cx="402336" cy="109728"/>
          </a:xfrm>
          <a:prstGeom prst="rect">
            <a:avLst/>
          </a:prstGeom>
          <a:noFill/>
          <a:ln/>
        </p:spPr>
        <p:txBody>
          <a:bodyPr wrap="square" lIns="0" tIns="0" rIns="0" bIns="0" rtlCol="0" anchor="ctr"/>
          <a:lstStyle/>
          <a:p>
            <a:pPr algn="ctr" indent="0" marL="0">
              <a:buNone/>
            </a:pPr>
            <a:r>
              <a:rPr lang="en-US" sz="1000" dirty="0">
                <a:solidFill>
                  <a:srgbClr val="E0A82E"/>
                </a:solidFill>
              </a:rPr>
              <a:t>↓</a:t>
            </a:r>
            <a:endParaRPr lang="en-US" sz="1000" dirty="0"/>
          </a:p>
        </p:txBody>
      </p:sp>
      <p:sp>
        <p:nvSpPr>
          <p:cNvPr id="28" name="Shape 26"/>
          <p:cNvSpPr/>
          <p:nvPr/>
        </p:nvSpPr>
        <p:spPr>
          <a:xfrm>
            <a:off x="640080" y="4233672"/>
            <a:ext cx="10881360" cy="548640"/>
          </a:xfrm>
          <a:prstGeom prst="rect">
            <a:avLst/>
          </a:prstGeom>
          <a:solidFill>
            <a:srgbClr val="161C4A"/>
          </a:solidFill>
          <a:ln/>
        </p:spPr>
      </p:sp>
      <p:sp>
        <p:nvSpPr>
          <p:cNvPr id="29" name="Shape 27"/>
          <p:cNvSpPr/>
          <p:nvPr/>
        </p:nvSpPr>
        <p:spPr>
          <a:xfrm>
            <a:off x="868680" y="4306824"/>
            <a:ext cx="402336" cy="402336"/>
          </a:xfrm>
          <a:prstGeom prst="ellipse">
            <a:avLst/>
          </a:prstGeom>
          <a:solidFill>
            <a:srgbClr val="CADCFC"/>
          </a:solidFill>
          <a:ln/>
        </p:spPr>
      </p:sp>
      <p:sp>
        <p:nvSpPr>
          <p:cNvPr id="30" name="Text 28"/>
          <p:cNvSpPr/>
          <p:nvPr/>
        </p:nvSpPr>
        <p:spPr>
          <a:xfrm>
            <a:off x="868680" y="4306824"/>
            <a:ext cx="402336" cy="402336"/>
          </a:xfrm>
          <a:prstGeom prst="rect">
            <a:avLst/>
          </a:prstGeom>
          <a:noFill/>
          <a:ln/>
        </p:spPr>
        <p:txBody>
          <a:bodyPr wrap="square" lIns="0" tIns="0" rIns="0" bIns="0" rtlCol="0" anchor="ctr"/>
          <a:lstStyle/>
          <a:p>
            <a:pPr algn="ctr" indent="0" marL="0">
              <a:buNone/>
            </a:pPr>
            <a:r>
              <a:rPr lang="en-US" sz="1400" dirty="0">
                <a:solidFill>
                  <a:srgbClr val="000000"/>
                </a:solidFill>
              </a:rPr>
              <a:t>🗑</a:t>
            </a:r>
            <a:endParaRPr lang="en-US" sz="1400" dirty="0"/>
          </a:p>
        </p:txBody>
      </p:sp>
      <p:sp>
        <p:nvSpPr>
          <p:cNvPr id="31" name="Text 29"/>
          <p:cNvSpPr/>
          <p:nvPr/>
        </p:nvSpPr>
        <p:spPr>
          <a:xfrm>
            <a:off x="1463040" y="4233672"/>
            <a:ext cx="2377440" cy="5486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Delete Layer</a:t>
            </a:r>
            <a:endParaRPr lang="en-US" sz="1300" dirty="0"/>
          </a:p>
        </p:txBody>
      </p:sp>
      <p:sp>
        <p:nvSpPr>
          <p:cNvPr id="32" name="Text 30"/>
          <p:cNvSpPr/>
          <p:nvPr/>
        </p:nvSpPr>
        <p:spPr>
          <a:xfrm>
            <a:off x="3931920" y="4233672"/>
            <a:ext cx="7360920" cy="54864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Explicit DELETE removes entries on demand</a:t>
            </a:r>
            <a:endParaRPr lang="en-US" sz="1200" dirty="0"/>
          </a:p>
        </p:txBody>
      </p:sp>
      <p:sp>
        <p:nvSpPr>
          <p:cNvPr id="33" name="Text 31"/>
          <p:cNvSpPr/>
          <p:nvPr/>
        </p:nvSpPr>
        <p:spPr>
          <a:xfrm>
            <a:off x="868680" y="4782312"/>
            <a:ext cx="402336" cy="109728"/>
          </a:xfrm>
          <a:prstGeom prst="rect">
            <a:avLst/>
          </a:prstGeom>
          <a:noFill/>
          <a:ln/>
        </p:spPr>
        <p:txBody>
          <a:bodyPr wrap="square" lIns="0" tIns="0" rIns="0" bIns="0" rtlCol="0" anchor="ctr"/>
          <a:lstStyle/>
          <a:p>
            <a:pPr algn="ctr" indent="0" marL="0">
              <a:buNone/>
            </a:pPr>
            <a:r>
              <a:rPr lang="en-US" sz="1000" dirty="0">
                <a:solidFill>
                  <a:srgbClr val="E0A82E"/>
                </a:solidFill>
              </a:rPr>
              <a:t>↓</a:t>
            </a:r>
            <a:endParaRPr lang="en-US" sz="1000" dirty="0"/>
          </a:p>
        </p:txBody>
      </p:sp>
      <p:sp>
        <p:nvSpPr>
          <p:cNvPr id="34" name="Shape 32"/>
          <p:cNvSpPr/>
          <p:nvPr/>
        </p:nvSpPr>
        <p:spPr>
          <a:xfrm>
            <a:off x="640080" y="4892040"/>
            <a:ext cx="10881360" cy="548640"/>
          </a:xfrm>
          <a:prstGeom prst="rect">
            <a:avLst/>
          </a:prstGeom>
          <a:solidFill>
            <a:srgbClr val="161C4A"/>
          </a:solidFill>
          <a:ln/>
        </p:spPr>
      </p:sp>
      <p:sp>
        <p:nvSpPr>
          <p:cNvPr id="35" name="Shape 33"/>
          <p:cNvSpPr/>
          <p:nvPr/>
        </p:nvSpPr>
        <p:spPr>
          <a:xfrm>
            <a:off x="868680" y="4965192"/>
            <a:ext cx="402336" cy="402336"/>
          </a:xfrm>
          <a:prstGeom prst="ellipse">
            <a:avLst/>
          </a:prstGeom>
          <a:solidFill>
            <a:srgbClr val="CADCFC"/>
          </a:solidFill>
          <a:ln/>
        </p:spPr>
      </p:sp>
      <p:sp>
        <p:nvSpPr>
          <p:cNvPr id="36" name="Text 34"/>
          <p:cNvSpPr/>
          <p:nvPr/>
        </p:nvSpPr>
        <p:spPr>
          <a:xfrm>
            <a:off x="868680" y="4965192"/>
            <a:ext cx="402336" cy="402336"/>
          </a:xfrm>
          <a:prstGeom prst="rect">
            <a:avLst/>
          </a:prstGeom>
          <a:noFill/>
          <a:ln/>
        </p:spPr>
        <p:txBody>
          <a:bodyPr wrap="square" lIns="0" tIns="0" rIns="0" bIns="0" rtlCol="0" anchor="ctr"/>
          <a:lstStyle/>
          <a:p>
            <a:pPr algn="ctr" indent="0" marL="0">
              <a:buNone/>
            </a:pPr>
            <a:r>
              <a:rPr lang="en-US" sz="1400" dirty="0">
                <a:solidFill>
                  <a:srgbClr val="000000"/>
                </a:solidFill>
              </a:rPr>
              <a:t>📈</a:t>
            </a:r>
            <a:endParaRPr lang="en-US" sz="1400" dirty="0"/>
          </a:p>
        </p:txBody>
      </p:sp>
      <p:sp>
        <p:nvSpPr>
          <p:cNvPr id="37" name="Text 35"/>
          <p:cNvSpPr/>
          <p:nvPr/>
        </p:nvSpPr>
        <p:spPr>
          <a:xfrm>
            <a:off x="1463040" y="4892040"/>
            <a:ext cx="2377440" cy="5486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Reporting Layer</a:t>
            </a:r>
            <a:endParaRPr lang="en-US" sz="1300" dirty="0"/>
          </a:p>
        </p:txBody>
      </p:sp>
      <p:sp>
        <p:nvSpPr>
          <p:cNvPr id="38" name="Text 36"/>
          <p:cNvSpPr/>
          <p:nvPr/>
        </p:nvSpPr>
        <p:spPr>
          <a:xfrm>
            <a:off x="3931920" y="4892040"/>
            <a:ext cx="7360920" cy="54864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Aggregated stats output as structured JSON</a:t>
            </a:r>
            <a:endParaRPr lang="en-US" sz="1200" dirty="0"/>
          </a:p>
        </p:txBody>
      </p:sp>
      <p:sp>
        <p:nvSpPr>
          <p:cNvPr id="39" name="Text 37"/>
          <p:cNvSpPr/>
          <p:nvPr/>
        </p:nvSpPr>
        <p:spPr>
          <a:xfrm>
            <a:off x="457200" y="6547104"/>
            <a:ext cx="8229600" cy="274320"/>
          </a:xfrm>
          <a:prstGeom prst="rect">
            <a:avLst/>
          </a:prstGeom>
          <a:noFill/>
          <a:ln/>
        </p:spPr>
        <p:txBody>
          <a:bodyPr wrap="square" lIns="0" tIns="0" rIns="0" bIns="0" rtlCol="0" anchor="ctr"/>
          <a:lstStyle/>
          <a:p>
            <a:pPr algn="l" indent="0" marL="0">
              <a:buNone/>
            </a:pPr>
            <a:r>
              <a:rPr lang="en-US" sz="1000" dirty="0">
                <a:solidFill>
                  <a:srgbClr val="6B7280"/>
                </a:solidFill>
                <a:latin typeface="Calibri" pitchFamily="34" charset="0"/>
                <a:ea typeface="Calibri" pitchFamily="34" charset="-122"/>
                <a:cs typeface="Calibri" pitchFamily="34" charset="-120"/>
              </a:rPr>
              <a:t>Python Full Stack Development Virtual Internship  •  Sujal Gautam</a:t>
            </a:r>
            <a:endParaRPr lang="en-US" sz="1000" dirty="0"/>
          </a:p>
        </p:txBody>
      </p:sp>
      <p:sp>
        <p:nvSpPr>
          <p:cNvPr id="40" name="Text 38"/>
          <p:cNvSpPr/>
          <p:nvPr/>
        </p:nvSpPr>
        <p:spPr>
          <a:xfrm>
            <a:off x="11277295" y="6547104"/>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3FA"/>
        </a:solidFill>
      </p:bgPr>
    </p:bg>
    <p:spTree>
      <p:nvGrpSpPr>
        <p:cNvPr id="1" name=""/>
        <p:cNvGrpSpPr/>
        <p:nvPr/>
      </p:nvGrpSpPr>
      <p:grpSpPr>
        <a:xfrm>
          <a:off x="0" y="0"/>
          <a:ext cx="0" cy="0"/>
          <a:chOff x="0" y="0"/>
          <a:chExt cx="0" cy="0"/>
        </a:xfrm>
      </p:grpSpPr>
      <p:sp>
        <p:nvSpPr>
          <p:cNvPr id="2" name="Text 0"/>
          <p:cNvSpPr/>
          <p:nvPr/>
        </p:nvSpPr>
        <p:spPr>
          <a:xfrm>
            <a:off x="640080" y="457200"/>
            <a:ext cx="7315200" cy="320040"/>
          </a:xfrm>
          <a:prstGeom prst="rect">
            <a:avLst/>
          </a:prstGeom>
          <a:noFill/>
          <a:ln/>
        </p:spPr>
        <p:txBody>
          <a:bodyPr wrap="square" lIns="0" tIns="0" rIns="0" bIns="0" rtlCol="0" anchor="ctr"/>
          <a:lstStyle/>
          <a:p>
            <a:pPr indent="0" marL="0">
              <a:buNone/>
            </a:pPr>
            <a:r>
              <a:rPr lang="en-US" sz="1200" b="1" spc="200" kern="0" dirty="0">
                <a:solidFill>
                  <a:srgbClr val="1E2761"/>
                </a:solidFill>
                <a:latin typeface="Calibri" pitchFamily="34" charset="0"/>
                <a:ea typeface="Calibri" pitchFamily="34" charset="-122"/>
                <a:cs typeface="Calibri" pitchFamily="34" charset="-120"/>
              </a:rPr>
              <a:t>METHODOLOGY</a:t>
            </a:r>
            <a:endParaRPr lang="en-US" sz="1200" dirty="0"/>
          </a:p>
        </p:txBody>
      </p:sp>
      <p:sp>
        <p:nvSpPr>
          <p:cNvPr id="3" name="Text 1"/>
          <p:cNvSpPr/>
          <p:nvPr/>
        </p:nvSpPr>
        <p:spPr>
          <a:xfrm>
            <a:off x="640080" y="749808"/>
            <a:ext cx="10881360" cy="640080"/>
          </a:xfrm>
          <a:prstGeom prst="rect">
            <a:avLst/>
          </a:prstGeom>
          <a:noFill/>
          <a:ln/>
        </p:spPr>
        <p:txBody>
          <a:bodyPr wrap="square" lIns="0" tIns="0" rIns="0" bIns="0" rtlCol="0" anchor="ctr"/>
          <a:lstStyle/>
          <a:p>
            <a:pPr indent="0" marL="0">
              <a:buNone/>
            </a:pPr>
            <a:r>
              <a:rPr lang="en-US" sz="3000" b="1" dirty="0">
                <a:solidFill>
                  <a:srgbClr val="1B1F3B"/>
                </a:solidFill>
                <a:latin typeface="Cambria" pitchFamily="34" charset="0"/>
                <a:ea typeface="Cambria" pitchFamily="34" charset="-122"/>
                <a:cs typeface="Cambria" pitchFamily="34" charset="-120"/>
              </a:rPr>
              <a:t>The 8-Week Learning Journey</a:t>
            </a:r>
            <a:endParaRPr lang="en-US" sz="3000" dirty="0"/>
          </a:p>
        </p:txBody>
      </p:sp>
      <p:sp>
        <p:nvSpPr>
          <p:cNvPr id="4" name="Shape 2"/>
          <p:cNvSpPr/>
          <p:nvPr/>
        </p:nvSpPr>
        <p:spPr>
          <a:xfrm>
            <a:off x="640080" y="1554480"/>
            <a:ext cx="2587752" cy="1600200"/>
          </a:xfrm>
          <a:prstGeom prst="rect">
            <a:avLst/>
          </a:prstGeom>
          <a:solidFill>
            <a:srgbClr val="FFFFFF"/>
          </a:solidFill>
          <a:ln/>
          <a:effectLst>
            <a:outerShdw sx="100000" sy="100000" kx="0" ky="0" algn="bl" rotWithShape="0" blurRad="76200" dist="25400" dir="5400000">
              <a:srgbClr val="888888">
                <a:alpha val="20000"/>
              </a:srgbClr>
            </a:outerShdw>
          </a:effectLst>
        </p:spPr>
      </p:sp>
      <p:sp>
        <p:nvSpPr>
          <p:cNvPr id="5" name="Shape 3"/>
          <p:cNvSpPr/>
          <p:nvPr/>
        </p:nvSpPr>
        <p:spPr>
          <a:xfrm>
            <a:off x="822960" y="1737360"/>
            <a:ext cx="457200" cy="457200"/>
          </a:xfrm>
          <a:prstGeom prst="ellipse">
            <a:avLst/>
          </a:prstGeom>
          <a:solidFill>
            <a:srgbClr val="1E2761"/>
          </a:solidFill>
          <a:ln/>
        </p:spPr>
      </p:sp>
      <p:sp>
        <p:nvSpPr>
          <p:cNvPr id="6" name="Text 4"/>
          <p:cNvSpPr/>
          <p:nvPr/>
        </p:nvSpPr>
        <p:spPr>
          <a:xfrm>
            <a:off x="822960" y="17373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5"/>
          <p:cNvSpPr/>
          <p:nvPr/>
        </p:nvSpPr>
        <p:spPr>
          <a:xfrm>
            <a:off x="1353312" y="1755648"/>
            <a:ext cx="1764792" cy="228600"/>
          </a:xfrm>
          <a:prstGeom prst="rect">
            <a:avLst/>
          </a:prstGeom>
          <a:noFill/>
          <a:ln/>
        </p:spPr>
        <p:txBody>
          <a:bodyPr wrap="square" lIns="0" tIns="0" rIns="0" bIns="0" rtlCol="0" anchor="ctr"/>
          <a:lstStyle/>
          <a:p>
            <a:pPr indent="0" marL="0">
              <a:buNone/>
            </a:pPr>
            <a:r>
              <a:rPr lang="en-US" sz="900" b="1" dirty="0">
                <a:solidFill>
                  <a:srgbClr val="E0A82E"/>
                </a:solidFill>
                <a:latin typeface="Calibri" pitchFamily="34" charset="0"/>
                <a:ea typeface="Calibri" pitchFamily="34" charset="-122"/>
                <a:cs typeface="Calibri" pitchFamily="34" charset="-120"/>
              </a:rPr>
              <a:t>WEEK</a:t>
            </a:r>
            <a:endParaRPr lang="en-US" sz="900" dirty="0"/>
          </a:p>
        </p:txBody>
      </p:sp>
      <p:sp>
        <p:nvSpPr>
          <p:cNvPr id="8" name="Text 6"/>
          <p:cNvSpPr/>
          <p:nvPr/>
        </p:nvSpPr>
        <p:spPr>
          <a:xfrm>
            <a:off x="822960" y="2304288"/>
            <a:ext cx="2221992" cy="502920"/>
          </a:xfrm>
          <a:prstGeom prst="rect">
            <a:avLst/>
          </a:prstGeom>
          <a:noFill/>
          <a:ln/>
        </p:spPr>
        <p:txBody>
          <a:bodyPr wrap="square" lIns="0" tIns="0" rIns="0" bIns="0" rtlCol="0" anchor="ctr"/>
          <a:lstStyle/>
          <a:p>
            <a:pPr indent="0" marL="0">
              <a:buNone/>
            </a:pPr>
            <a:r>
              <a:rPr lang="en-US" sz="1150" b="1" dirty="0">
                <a:solidFill>
                  <a:srgbClr val="1B1F3B"/>
                </a:solidFill>
                <a:latin typeface="Cambria" pitchFamily="34" charset="0"/>
                <a:ea typeface="Cambria" pitchFamily="34" charset="-122"/>
                <a:cs typeface="Cambria" pitchFamily="34" charset="-120"/>
              </a:rPr>
              <a:t>Full Stack &amp; Python Basics</a:t>
            </a:r>
            <a:endParaRPr lang="en-US" sz="1150" dirty="0"/>
          </a:p>
        </p:txBody>
      </p:sp>
      <p:sp>
        <p:nvSpPr>
          <p:cNvPr id="9" name="Text 7"/>
          <p:cNvSpPr/>
          <p:nvPr/>
        </p:nvSpPr>
        <p:spPr>
          <a:xfrm>
            <a:off x="822960" y="2788920"/>
            <a:ext cx="2221992" cy="32004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Environment setup, data types, functions, OOP</a:t>
            </a:r>
            <a:endParaRPr lang="en-US" sz="900" dirty="0"/>
          </a:p>
        </p:txBody>
      </p:sp>
      <p:sp>
        <p:nvSpPr>
          <p:cNvPr id="10" name="Shape 8"/>
          <p:cNvSpPr/>
          <p:nvPr/>
        </p:nvSpPr>
        <p:spPr>
          <a:xfrm>
            <a:off x="3447288" y="1554480"/>
            <a:ext cx="2587752" cy="1600200"/>
          </a:xfrm>
          <a:prstGeom prst="rect">
            <a:avLst/>
          </a:prstGeom>
          <a:solidFill>
            <a:srgbClr val="FFFFFF"/>
          </a:solidFill>
          <a:ln/>
          <a:effectLst>
            <a:outerShdw sx="100000" sy="100000" kx="0" ky="0" algn="bl" rotWithShape="0" blurRad="76200" dist="25400" dir="5400000">
              <a:srgbClr val="888888">
                <a:alpha val="20000"/>
              </a:srgbClr>
            </a:outerShdw>
          </a:effectLst>
        </p:spPr>
      </p:sp>
      <p:sp>
        <p:nvSpPr>
          <p:cNvPr id="11" name="Shape 9"/>
          <p:cNvSpPr/>
          <p:nvPr/>
        </p:nvSpPr>
        <p:spPr>
          <a:xfrm>
            <a:off x="3630168" y="1737360"/>
            <a:ext cx="457200" cy="457200"/>
          </a:xfrm>
          <a:prstGeom prst="ellipse">
            <a:avLst/>
          </a:prstGeom>
          <a:solidFill>
            <a:srgbClr val="1E2761"/>
          </a:solidFill>
          <a:ln/>
        </p:spPr>
      </p:sp>
      <p:sp>
        <p:nvSpPr>
          <p:cNvPr id="12" name="Text 10"/>
          <p:cNvSpPr/>
          <p:nvPr/>
        </p:nvSpPr>
        <p:spPr>
          <a:xfrm>
            <a:off x="3630168" y="17373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3" name="Text 11"/>
          <p:cNvSpPr/>
          <p:nvPr/>
        </p:nvSpPr>
        <p:spPr>
          <a:xfrm>
            <a:off x="4160520" y="1755648"/>
            <a:ext cx="1764792" cy="228600"/>
          </a:xfrm>
          <a:prstGeom prst="rect">
            <a:avLst/>
          </a:prstGeom>
          <a:noFill/>
          <a:ln/>
        </p:spPr>
        <p:txBody>
          <a:bodyPr wrap="square" lIns="0" tIns="0" rIns="0" bIns="0" rtlCol="0" anchor="ctr"/>
          <a:lstStyle/>
          <a:p>
            <a:pPr indent="0" marL="0">
              <a:buNone/>
            </a:pPr>
            <a:r>
              <a:rPr lang="en-US" sz="900" b="1" dirty="0">
                <a:solidFill>
                  <a:srgbClr val="E0A82E"/>
                </a:solidFill>
                <a:latin typeface="Calibri" pitchFamily="34" charset="0"/>
                <a:ea typeface="Calibri" pitchFamily="34" charset="-122"/>
                <a:cs typeface="Calibri" pitchFamily="34" charset="-120"/>
              </a:rPr>
              <a:t>WEEK</a:t>
            </a:r>
            <a:endParaRPr lang="en-US" sz="900" dirty="0"/>
          </a:p>
        </p:txBody>
      </p:sp>
      <p:sp>
        <p:nvSpPr>
          <p:cNvPr id="14" name="Text 12"/>
          <p:cNvSpPr/>
          <p:nvPr/>
        </p:nvSpPr>
        <p:spPr>
          <a:xfrm>
            <a:off x="3630168" y="2304288"/>
            <a:ext cx="2221992" cy="502920"/>
          </a:xfrm>
          <a:prstGeom prst="rect">
            <a:avLst/>
          </a:prstGeom>
          <a:noFill/>
          <a:ln/>
        </p:spPr>
        <p:txBody>
          <a:bodyPr wrap="square" lIns="0" tIns="0" rIns="0" bIns="0" rtlCol="0" anchor="ctr"/>
          <a:lstStyle/>
          <a:p>
            <a:pPr indent="0" marL="0">
              <a:buNone/>
            </a:pPr>
            <a:r>
              <a:rPr lang="en-US" sz="1150" b="1" dirty="0">
                <a:solidFill>
                  <a:srgbClr val="1B1F3B"/>
                </a:solidFill>
                <a:latin typeface="Cambria" pitchFamily="34" charset="0"/>
                <a:ea typeface="Cambria" pitchFamily="34" charset="-122"/>
                <a:cs typeface="Cambria" pitchFamily="34" charset="-120"/>
              </a:rPr>
              <a:t>FastAPI &amp; Data Validation</a:t>
            </a:r>
            <a:endParaRPr lang="en-US" sz="1150" dirty="0"/>
          </a:p>
        </p:txBody>
      </p:sp>
      <p:sp>
        <p:nvSpPr>
          <p:cNvPr id="15" name="Text 13"/>
          <p:cNvSpPr/>
          <p:nvPr/>
        </p:nvSpPr>
        <p:spPr>
          <a:xfrm>
            <a:off x="3630168" y="2788920"/>
            <a:ext cx="2221992" cy="32004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Backend APIs, routing, Pydantic validation</a:t>
            </a:r>
            <a:endParaRPr lang="en-US" sz="900" dirty="0"/>
          </a:p>
        </p:txBody>
      </p:sp>
      <p:sp>
        <p:nvSpPr>
          <p:cNvPr id="16" name="Shape 14"/>
          <p:cNvSpPr/>
          <p:nvPr/>
        </p:nvSpPr>
        <p:spPr>
          <a:xfrm>
            <a:off x="6254496" y="1554480"/>
            <a:ext cx="2587752" cy="1600200"/>
          </a:xfrm>
          <a:prstGeom prst="rect">
            <a:avLst/>
          </a:prstGeom>
          <a:solidFill>
            <a:srgbClr val="FFFFFF"/>
          </a:solidFill>
          <a:ln/>
          <a:effectLst>
            <a:outerShdw sx="100000" sy="100000" kx="0" ky="0" algn="bl" rotWithShape="0" blurRad="76200" dist="25400" dir="5400000">
              <a:srgbClr val="888888">
                <a:alpha val="20000"/>
              </a:srgbClr>
            </a:outerShdw>
          </a:effectLst>
        </p:spPr>
      </p:sp>
      <p:sp>
        <p:nvSpPr>
          <p:cNvPr id="17" name="Shape 15"/>
          <p:cNvSpPr/>
          <p:nvPr/>
        </p:nvSpPr>
        <p:spPr>
          <a:xfrm>
            <a:off x="6437376" y="1737360"/>
            <a:ext cx="457200" cy="457200"/>
          </a:xfrm>
          <a:prstGeom prst="ellipse">
            <a:avLst/>
          </a:prstGeom>
          <a:solidFill>
            <a:srgbClr val="1E2761"/>
          </a:solidFill>
          <a:ln/>
        </p:spPr>
      </p:sp>
      <p:sp>
        <p:nvSpPr>
          <p:cNvPr id="18" name="Text 16"/>
          <p:cNvSpPr/>
          <p:nvPr/>
        </p:nvSpPr>
        <p:spPr>
          <a:xfrm>
            <a:off x="6437376" y="17373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9" name="Text 17"/>
          <p:cNvSpPr/>
          <p:nvPr/>
        </p:nvSpPr>
        <p:spPr>
          <a:xfrm>
            <a:off x="6967728" y="1755648"/>
            <a:ext cx="1764792" cy="228600"/>
          </a:xfrm>
          <a:prstGeom prst="rect">
            <a:avLst/>
          </a:prstGeom>
          <a:noFill/>
          <a:ln/>
        </p:spPr>
        <p:txBody>
          <a:bodyPr wrap="square" lIns="0" tIns="0" rIns="0" bIns="0" rtlCol="0" anchor="ctr"/>
          <a:lstStyle/>
          <a:p>
            <a:pPr indent="0" marL="0">
              <a:buNone/>
            </a:pPr>
            <a:r>
              <a:rPr lang="en-US" sz="900" b="1" dirty="0">
                <a:solidFill>
                  <a:srgbClr val="E0A82E"/>
                </a:solidFill>
                <a:latin typeface="Calibri" pitchFamily="34" charset="0"/>
                <a:ea typeface="Calibri" pitchFamily="34" charset="-122"/>
                <a:cs typeface="Calibri" pitchFamily="34" charset="-120"/>
              </a:rPr>
              <a:t>WEEK</a:t>
            </a:r>
            <a:endParaRPr lang="en-US" sz="900" dirty="0"/>
          </a:p>
        </p:txBody>
      </p:sp>
      <p:sp>
        <p:nvSpPr>
          <p:cNvPr id="20" name="Text 18"/>
          <p:cNvSpPr/>
          <p:nvPr/>
        </p:nvSpPr>
        <p:spPr>
          <a:xfrm>
            <a:off x="6437376" y="2304288"/>
            <a:ext cx="2221992" cy="502920"/>
          </a:xfrm>
          <a:prstGeom prst="rect">
            <a:avLst/>
          </a:prstGeom>
          <a:noFill/>
          <a:ln/>
        </p:spPr>
        <p:txBody>
          <a:bodyPr wrap="square" lIns="0" tIns="0" rIns="0" bIns="0" rtlCol="0" anchor="ctr"/>
          <a:lstStyle/>
          <a:p>
            <a:pPr indent="0" marL="0">
              <a:buNone/>
            </a:pPr>
            <a:r>
              <a:rPr lang="en-US" sz="1150" b="1" dirty="0">
                <a:solidFill>
                  <a:srgbClr val="1B1F3B"/>
                </a:solidFill>
                <a:latin typeface="Cambria" pitchFamily="34" charset="0"/>
                <a:ea typeface="Cambria" pitchFamily="34" charset="-122"/>
                <a:cs typeface="Cambria" pitchFamily="34" charset="-120"/>
              </a:rPr>
              <a:t>React Fundamentals &amp; Hooks</a:t>
            </a:r>
            <a:endParaRPr lang="en-US" sz="1150" dirty="0"/>
          </a:p>
        </p:txBody>
      </p:sp>
      <p:sp>
        <p:nvSpPr>
          <p:cNvPr id="21" name="Text 19"/>
          <p:cNvSpPr/>
          <p:nvPr/>
        </p:nvSpPr>
        <p:spPr>
          <a:xfrm>
            <a:off x="6437376" y="2788920"/>
            <a:ext cx="2221992" cy="32004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Components, JSX, useState, useEffect</a:t>
            </a:r>
            <a:endParaRPr lang="en-US" sz="900" dirty="0"/>
          </a:p>
        </p:txBody>
      </p:sp>
      <p:sp>
        <p:nvSpPr>
          <p:cNvPr id="22" name="Shape 20"/>
          <p:cNvSpPr/>
          <p:nvPr/>
        </p:nvSpPr>
        <p:spPr>
          <a:xfrm>
            <a:off x="9061704" y="1554480"/>
            <a:ext cx="2587752" cy="1600200"/>
          </a:xfrm>
          <a:prstGeom prst="rect">
            <a:avLst/>
          </a:prstGeom>
          <a:solidFill>
            <a:srgbClr val="FFFFFF"/>
          </a:solidFill>
          <a:ln/>
          <a:effectLst>
            <a:outerShdw sx="100000" sy="100000" kx="0" ky="0" algn="bl" rotWithShape="0" blurRad="76200" dist="25400" dir="5400000">
              <a:srgbClr val="888888">
                <a:alpha val="20000"/>
              </a:srgbClr>
            </a:outerShdw>
          </a:effectLst>
        </p:spPr>
      </p:sp>
      <p:sp>
        <p:nvSpPr>
          <p:cNvPr id="23" name="Shape 21"/>
          <p:cNvSpPr/>
          <p:nvPr/>
        </p:nvSpPr>
        <p:spPr>
          <a:xfrm>
            <a:off x="9244584" y="1737360"/>
            <a:ext cx="457200" cy="457200"/>
          </a:xfrm>
          <a:prstGeom prst="ellipse">
            <a:avLst/>
          </a:prstGeom>
          <a:solidFill>
            <a:srgbClr val="1E2761"/>
          </a:solidFill>
          <a:ln/>
        </p:spPr>
      </p:sp>
      <p:sp>
        <p:nvSpPr>
          <p:cNvPr id="24" name="Text 22"/>
          <p:cNvSpPr/>
          <p:nvPr/>
        </p:nvSpPr>
        <p:spPr>
          <a:xfrm>
            <a:off x="9244584" y="17373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5" name="Text 23"/>
          <p:cNvSpPr/>
          <p:nvPr/>
        </p:nvSpPr>
        <p:spPr>
          <a:xfrm>
            <a:off x="9774936" y="1755648"/>
            <a:ext cx="1764792" cy="228600"/>
          </a:xfrm>
          <a:prstGeom prst="rect">
            <a:avLst/>
          </a:prstGeom>
          <a:noFill/>
          <a:ln/>
        </p:spPr>
        <p:txBody>
          <a:bodyPr wrap="square" lIns="0" tIns="0" rIns="0" bIns="0" rtlCol="0" anchor="ctr"/>
          <a:lstStyle/>
          <a:p>
            <a:pPr indent="0" marL="0">
              <a:buNone/>
            </a:pPr>
            <a:r>
              <a:rPr lang="en-US" sz="900" b="1" dirty="0">
                <a:solidFill>
                  <a:srgbClr val="E0A82E"/>
                </a:solidFill>
                <a:latin typeface="Calibri" pitchFamily="34" charset="0"/>
                <a:ea typeface="Calibri" pitchFamily="34" charset="-122"/>
                <a:cs typeface="Calibri" pitchFamily="34" charset="-120"/>
              </a:rPr>
              <a:t>WEEK</a:t>
            </a:r>
            <a:endParaRPr lang="en-US" sz="900" dirty="0"/>
          </a:p>
        </p:txBody>
      </p:sp>
      <p:sp>
        <p:nvSpPr>
          <p:cNvPr id="26" name="Text 24"/>
          <p:cNvSpPr/>
          <p:nvPr/>
        </p:nvSpPr>
        <p:spPr>
          <a:xfrm>
            <a:off x="9244584" y="2304288"/>
            <a:ext cx="2221992" cy="502920"/>
          </a:xfrm>
          <a:prstGeom prst="rect">
            <a:avLst/>
          </a:prstGeom>
          <a:noFill/>
          <a:ln/>
        </p:spPr>
        <p:txBody>
          <a:bodyPr wrap="square" lIns="0" tIns="0" rIns="0" bIns="0" rtlCol="0" anchor="ctr"/>
          <a:lstStyle/>
          <a:p>
            <a:pPr indent="0" marL="0">
              <a:buNone/>
            </a:pPr>
            <a:r>
              <a:rPr lang="en-US" sz="1150" b="1" dirty="0">
                <a:solidFill>
                  <a:srgbClr val="1B1F3B"/>
                </a:solidFill>
                <a:latin typeface="Cambria" pitchFamily="34" charset="0"/>
                <a:ea typeface="Cambria" pitchFamily="34" charset="-122"/>
                <a:cs typeface="Cambria" pitchFamily="34" charset="-120"/>
              </a:rPr>
              <a:t>Frontend-Backend Integration</a:t>
            </a:r>
            <a:endParaRPr lang="en-US" sz="1150" dirty="0"/>
          </a:p>
        </p:txBody>
      </p:sp>
      <p:sp>
        <p:nvSpPr>
          <p:cNvPr id="27" name="Text 25"/>
          <p:cNvSpPr/>
          <p:nvPr/>
        </p:nvSpPr>
        <p:spPr>
          <a:xfrm>
            <a:off x="9244584" y="2788920"/>
            <a:ext cx="2221992" cy="32004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Reusable components, API calls, data rendering</a:t>
            </a:r>
            <a:endParaRPr lang="en-US" sz="900" dirty="0"/>
          </a:p>
        </p:txBody>
      </p:sp>
      <p:sp>
        <p:nvSpPr>
          <p:cNvPr id="28" name="Shape 26"/>
          <p:cNvSpPr/>
          <p:nvPr/>
        </p:nvSpPr>
        <p:spPr>
          <a:xfrm>
            <a:off x="640080" y="3374136"/>
            <a:ext cx="2587752" cy="1600200"/>
          </a:xfrm>
          <a:prstGeom prst="rect">
            <a:avLst/>
          </a:prstGeom>
          <a:solidFill>
            <a:srgbClr val="FFFFFF"/>
          </a:solidFill>
          <a:ln/>
          <a:effectLst>
            <a:outerShdw sx="100000" sy="100000" kx="0" ky="0" algn="bl" rotWithShape="0" blurRad="76200" dist="25400" dir="5400000">
              <a:srgbClr val="888888">
                <a:alpha val="20000"/>
              </a:srgbClr>
            </a:outerShdw>
          </a:effectLst>
        </p:spPr>
      </p:sp>
      <p:sp>
        <p:nvSpPr>
          <p:cNvPr id="29" name="Shape 27"/>
          <p:cNvSpPr/>
          <p:nvPr/>
        </p:nvSpPr>
        <p:spPr>
          <a:xfrm>
            <a:off x="822960" y="3557016"/>
            <a:ext cx="457200" cy="457200"/>
          </a:xfrm>
          <a:prstGeom prst="ellipse">
            <a:avLst/>
          </a:prstGeom>
          <a:solidFill>
            <a:srgbClr val="1E2761"/>
          </a:solidFill>
          <a:ln/>
        </p:spPr>
      </p:sp>
      <p:sp>
        <p:nvSpPr>
          <p:cNvPr id="30" name="Text 28"/>
          <p:cNvSpPr/>
          <p:nvPr/>
        </p:nvSpPr>
        <p:spPr>
          <a:xfrm>
            <a:off x="822960" y="355701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31" name="Text 29"/>
          <p:cNvSpPr/>
          <p:nvPr/>
        </p:nvSpPr>
        <p:spPr>
          <a:xfrm>
            <a:off x="1353312" y="3575304"/>
            <a:ext cx="1764792" cy="228600"/>
          </a:xfrm>
          <a:prstGeom prst="rect">
            <a:avLst/>
          </a:prstGeom>
          <a:noFill/>
          <a:ln/>
        </p:spPr>
        <p:txBody>
          <a:bodyPr wrap="square" lIns="0" tIns="0" rIns="0" bIns="0" rtlCol="0" anchor="ctr"/>
          <a:lstStyle/>
          <a:p>
            <a:pPr indent="0" marL="0">
              <a:buNone/>
            </a:pPr>
            <a:r>
              <a:rPr lang="en-US" sz="900" b="1" dirty="0">
                <a:solidFill>
                  <a:srgbClr val="E0A82E"/>
                </a:solidFill>
                <a:latin typeface="Calibri" pitchFamily="34" charset="0"/>
                <a:ea typeface="Calibri" pitchFamily="34" charset="-122"/>
                <a:cs typeface="Calibri" pitchFamily="34" charset="-120"/>
              </a:rPr>
              <a:t>WEEK</a:t>
            </a:r>
            <a:endParaRPr lang="en-US" sz="900" dirty="0"/>
          </a:p>
        </p:txBody>
      </p:sp>
      <p:sp>
        <p:nvSpPr>
          <p:cNvPr id="32" name="Text 30"/>
          <p:cNvSpPr/>
          <p:nvPr/>
        </p:nvSpPr>
        <p:spPr>
          <a:xfrm>
            <a:off x="822960" y="4123944"/>
            <a:ext cx="2221992" cy="502920"/>
          </a:xfrm>
          <a:prstGeom prst="rect">
            <a:avLst/>
          </a:prstGeom>
          <a:noFill/>
          <a:ln/>
        </p:spPr>
        <p:txBody>
          <a:bodyPr wrap="square" lIns="0" tIns="0" rIns="0" bIns="0" rtlCol="0" anchor="ctr"/>
          <a:lstStyle/>
          <a:p>
            <a:pPr indent="0" marL="0">
              <a:buNone/>
            </a:pPr>
            <a:r>
              <a:rPr lang="en-US" sz="1150" b="1" dirty="0">
                <a:solidFill>
                  <a:srgbClr val="1B1F3B"/>
                </a:solidFill>
                <a:latin typeface="Cambria" pitchFamily="34" charset="0"/>
                <a:ea typeface="Cambria" pitchFamily="34" charset="-122"/>
                <a:cs typeface="Cambria" pitchFamily="34" charset="-120"/>
              </a:rPr>
              <a:t>Database with SQLAlchemy</a:t>
            </a:r>
            <a:endParaRPr lang="en-US" sz="1150" dirty="0"/>
          </a:p>
        </p:txBody>
      </p:sp>
      <p:sp>
        <p:nvSpPr>
          <p:cNvPr id="33" name="Text 31"/>
          <p:cNvSpPr/>
          <p:nvPr/>
        </p:nvSpPr>
        <p:spPr>
          <a:xfrm>
            <a:off x="822960" y="4608576"/>
            <a:ext cx="2221992" cy="32004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ORM, CRUD operations, relational models</a:t>
            </a:r>
            <a:endParaRPr lang="en-US" sz="900" dirty="0"/>
          </a:p>
        </p:txBody>
      </p:sp>
      <p:sp>
        <p:nvSpPr>
          <p:cNvPr id="34" name="Shape 32"/>
          <p:cNvSpPr/>
          <p:nvPr/>
        </p:nvSpPr>
        <p:spPr>
          <a:xfrm>
            <a:off x="3447288" y="3374136"/>
            <a:ext cx="2587752" cy="1600200"/>
          </a:xfrm>
          <a:prstGeom prst="rect">
            <a:avLst/>
          </a:prstGeom>
          <a:solidFill>
            <a:srgbClr val="FFFFFF"/>
          </a:solidFill>
          <a:ln/>
          <a:effectLst>
            <a:outerShdw sx="100000" sy="100000" kx="0" ky="0" algn="bl" rotWithShape="0" blurRad="76200" dist="25400" dir="5400000">
              <a:srgbClr val="888888">
                <a:alpha val="20000"/>
              </a:srgbClr>
            </a:outerShdw>
          </a:effectLst>
        </p:spPr>
      </p:sp>
      <p:sp>
        <p:nvSpPr>
          <p:cNvPr id="35" name="Shape 33"/>
          <p:cNvSpPr/>
          <p:nvPr/>
        </p:nvSpPr>
        <p:spPr>
          <a:xfrm>
            <a:off x="3630168" y="3557016"/>
            <a:ext cx="457200" cy="457200"/>
          </a:xfrm>
          <a:prstGeom prst="ellipse">
            <a:avLst/>
          </a:prstGeom>
          <a:solidFill>
            <a:srgbClr val="1E2761"/>
          </a:solidFill>
          <a:ln/>
        </p:spPr>
      </p:sp>
      <p:sp>
        <p:nvSpPr>
          <p:cNvPr id="36" name="Text 34"/>
          <p:cNvSpPr/>
          <p:nvPr/>
        </p:nvSpPr>
        <p:spPr>
          <a:xfrm>
            <a:off x="3630168" y="355701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6</a:t>
            </a:r>
            <a:endParaRPr lang="en-US" sz="1600" dirty="0"/>
          </a:p>
        </p:txBody>
      </p:sp>
      <p:sp>
        <p:nvSpPr>
          <p:cNvPr id="37" name="Text 35"/>
          <p:cNvSpPr/>
          <p:nvPr/>
        </p:nvSpPr>
        <p:spPr>
          <a:xfrm>
            <a:off x="4160520" y="3575304"/>
            <a:ext cx="1764792" cy="228600"/>
          </a:xfrm>
          <a:prstGeom prst="rect">
            <a:avLst/>
          </a:prstGeom>
          <a:noFill/>
          <a:ln/>
        </p:spPr>
        <p:txBody>
          <a:bodyPr wrap="square" lIns="0" tIns="0" rIns="0" bIns="0" rtlCol="0" anchor="ctr"/>
          <a:lstStyle/>
          <a:p>
            <a:pPr indent="0" marL="0">
              <a:buNone/>
            </a:pPr>
            <a:r>
              <a:rPr lang="en-US" sz="900" b="1" dirty="0">
                <a:solidFill>
                  <a:srgbClr val="E0A82E"/>
                </a:solidFill>
                <a:latin typeface="Calibri" pitchFamily="34" charset="0"/>
                <a:ea typeface="Calibri" pitchFamily="34" charset="-122"/>
                <a:cs typeface="Calibri" pitchFamily="34" charset="-120"/>
              </a:rPr>
              <a:t>WEEK</a:t>
            </a:r>
            <a:endParaRPr lang="en-US" sz="900" dirty="0"/>
          </a:p>
        </p:txBody>
      </p:sp>
      <p:sp>
        <p:nvSpPr>
          <p:cNvPr id="38" name="Text 36"/>
          <p:cNvSpPr/>
          <p:nvPr/>
        </p:nvSpPr>
        <p:spPr>
          <a:xfrm>
            <a:off x="3630168" y="4123944"/>
            <a:ext cx="2221992" cy="502920"/>
          </a:xfrm>
          <a:prstGeom prst="rect">
            <a:avLst/>
          </a:prstGeom>
          <a:noFill/>
          <a:ln/>
        </p:spPr>
        <p:txBody>
          <a:bodyPr wrap="square" lIns="0" tIns="0" rIns="0" bIns="0" rtlCol="0" anchor="ctr"/>
          <a:lstStyle/>
          <a:p>
            <a:pPr indent="0" marL="0">
              <a:buNone/>
            </a:pPr>
            <a:r>
              <a:rPr lang="en-US" sz="1150" b="1" dirty="0">
                <a:solidFill>
                  <a:srgbClr val="1B1F3B"/>
                </a:solidFill>
                <a:latin typeface="Cambria" pitchFamily="34" charset="0"/>
                <a:ea typeface="Cambria" pitchFamily="34" charset="-122"/>
                <a:cs typeface="Cambria" pitchFamily="34" charset="-120"/>
              </a:rPr>
              <a:t>Advanced React &amp; State Mgmt</a:t>
            </a:r>
            <a:endParaRPr lang="en-US" sz="1150" dirty="0"/>
          </a:p>
        </p:txBody>
      </p:sp>
      <p:sp>
        <p:nvSpPr>
          <p:cNvPr id="39" name="Text 37"/>
          <p:cNvSpPr/>
          <p:nvPr/>
        </p:nvSpPr>
        <p:spPr>
          <a:xfrm>
            <a:off x="3630168" y="4608576"/>
            <a:ext cx="2221992" cy="32004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React Router, Redux / Zustand for scale</a:t>
            </a:r>
            <a:endParaRPr lang="en-US" sz="900" dirty="0"/>
          </a:p>
        </p:txBody>
      </p:sp>
      <p:sp>
        <p:nvSpPr>
          <p:cNvPr id="40" name="Shape 38"/>
          <p:cNvSpPr/>
          <p:nvPr/>
        </p:nvSpPr>
        <p:spPr>
          <a:xfrm>
            <a:off x="6254496" y="3374136"/>
            <a:ext cx="2587752" cy="1600200"/>
          </a:xfrm>
          <a:prstGeom prst="rect">
            <a:avLst/>
          </a:prstGeom>
          <a:solidFill>
            <a:srgbClr val="FFFFFF"/>
          </a:solidFill>
          <a:ln/>
          <a:effectLst>
            <a:outerShdw sx="100000" sy="100000" kx="0" ky="0" algn="bl" rotWithShape="0" blurRad="76200" dist="25400" dir="5400000">
              <a:srgbClr val="888888">
                <a:alpha val="20000"/>
              </a:srgbClr>
            </a:outerShdw>
          </a:effectLst>
        </p:spPr>
      </p:sp>
      <p:sp>
        <p:nvSpPr>
          <p:cNvPr id="41" name="Shape 39"/>
          <p:cNvSpPr/>
          <p:nvPr/>
        </p:nvSpPr>
        <p:spPr>
          <a:xfrm>
            <a:off x="6437376" y="3557016"/>
            <a:ext cx="457200" cy="457200"/>
          </a:xfrm>
          <a:prstGeom prst="ellipse">
            <a:avLst/>
          </a:prstGeom>
          <a:solidFill>
            <a:srgbClr val="1E2761"/>
          </a:solidFill>
          <a:ln/>
        </p:spPr>
      </p:sp>
      <p:sp>
        <p:nvSpPr>
          <p:cNvPr id="42" name="Text 40"/>
          <p:cNvSpPr/>
          <p:nvPr/>
        </p:nvSpPr>
        <p:spPr>
          <a:xfrm>
            <a:off x="6437376" y="355701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7</a:t>
            </a:r>
            <a:endParaRPr lang="en-US" sz="1600" dirty="0"/>
          </a:p>
        </p:txBody>
      </p:sp>
      <p:sp>
        <p:nvSpPr>
          <p:cNvPr id="43" name="Text 41"/>
          <p:cNvSpPr/>
          <p:nvPr/>
        </p:nvSpPr>
        <p:spPr>
          <a:xfrm>
            <a:off x="6967728" y="3575304"/>
            <a:ext cx="1764792" cy="228600"/>
          </a:xfrm>
          <a:prstGeom prst="rect">
            <a:avLst/>
          </a:prstGeom>
          <a:noFill/>
          <a:ln/>
        </p:spPr>
        <p:txBody>
          <a:bodyPr wrap="square" lIns="0" tIns="0" rIns="0" bIns="0" rtlCol="0" anchor="ctr"/>
          <a:lstStyle/>
          <a:p>
            <a:pPr indent="0" marL="0">
              <a:buNone/>
            </a:pPr>
            <a:r>
              <a:rPr lang="en-US" sz="900" b="1" dirty="0">
                <a:solidFill>
                  <a:srgbClr val="E0A82E"/>
                </a:solidFill>
                <a:latin typeface="Calibri" pitchFamily="34" charset="0"/>
                <a:ea typeface="Calibri" pitchFamily="34" charset="-122"/>
                <a:cs typeface="Calibri" pitchFamily="34" charset="-120"/>
              </a:rPr>
              <a:t>WEEK</a:t>
            </a:r>
            <a:endParaRPr lang="en-US" sz="900" dirty="0"/>
          </a:p>
        </p:txBody>
      </p:sp>
      <p:sp>
        <p:nvSpPr>
          <p:cNvPr id="44" name="Text 42"/>
          <p:cNvSpPr/>
          <p:nvPr/>
        </p:nvSpPr>
        <p:spPr>
          <a:xfrm>
            <a:off x="6437376" y="4123944"/>
            <a:ext cx="2221992" cy="502920"/>
          </a:xfrm>
          <a:prstGeom prst="rect">
            <a:avLst/>
          </a:prstGeom>
          <a:noFill/>
          <a:ln/>
        </p:spPr>
        <p:txBody>
          <a:bodyPr wrap="square" lIns="0" tIns="0" rIns="0" bIns="0" rtlCol="0" anchor="ctr"/>
          <a:lstStyle/>
          <a:p>
            <a:pPr indent="0" marL="0">
              <a:buNone/>
            </a:pPr>
            <a:r>
              <a:rPr lang="en-US" sz="1150" b="1" dirty="0">
                <a:solidFill>
                  <a:srgbClr val="1B1F3B"/>
                </a:solidFill>
                <a:latin typeface="Cambria" pitchFamily="34" charset="0"/>
                <a:ea typeface="Cambria" pitchFamily="34" charset="-122"/>
                <a:cs typeface="Cambria" pitchFamily="34" charset="-120"/>
              </a:rPr>
              <a:t>Testing &amp; Deployment</a:t>
            </a:r>
            <a:endParaRPr lang="en-US" sz="1150" dirty="0"/>
          </a:p>
        </p:txBody>
      </p:sp>
      <p:sp>
        <p:nvSpPr>
          <p:cNvPr id="45" name="Text 43"/>
          <p:cNvSpPr/>
          <p:nvPr/>
        </p:nvSpPr>
        <p:spPr>
          <a:xfrm>
            <a:off x="6437376" y="4608576"/>
            <a:ext cx="2221992" cy="32004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Backend/frontend testing, Docker, cloud deploy</a:t>
            </a:r>
            <a:endParaRPr lang="en-US" sz="900" dirty="0"/>
          </a:p>
        </p:txBody>
      </p:sp>
      <p:sp>
        <p:nvSpPr>
          <p:cNvPr id="46" name="Shape 44"/>
          <p:cNvSpPr/>
          <p:nvPr/>
        </p:nvSpPr>
        <p:spPr>
          <a:xfrm>
            <a:off x="9061704" y="3374136"/>
            <a:ext cx="2587752" cy="1600200"/>
          </a:xfrm>
          <a:prstGeom prst="rect">
            <a:avLst/>
          </a:prstGeom>
          <a:solidFill>
            <a:srgbClr val="FFFFFF"/>
          </a:solidFill>
          <a:ln/>
          <a:effectLst>
            <a:outerShdw sx="100000" sy="100000" kx="0" ky="0" algn="bl" rotWithShape="0" blurRad="76200" dist="25400" dir="5400000">
              <a:srgbClr val="888888">
                <a:alpha val="20000"/>
              </a:srgbClr>
            </a:outerShdw>
          </a:effectLst>
        </p:spPr>
      </p:sp>
      <p:sp>
        <p:nvSpPr>
          <p:cNvPr id="47" name="Shape 45"/>
          <p:cNvSpPr/>
          <p:nvPr/>
        </p:nvSpPr>
        <p:spPr>
          <a:xfrm>
            <a:off x="9244584" y="3557016"/>
            <a:ext cx="457200" cy="457200"/>
          </a:xfrm>
          <a:prstGeom prst="ellipse">
            <a:avLst/>
          </a:prstGeom>
          <a:solidFill>
            <a:srgbClr val="1E2761"/>
          </a:solidFill>
          <a:ln/>
        </p:spPr>
      </p:sp>
      <p:sp>
        <p:nvSpPr>
          <p:cNvPr id="48" name="Text 46"/>
          <p:cNvSpPr/>
          <p:nvPr/>
        </p:nvSpPr>
        <p:spPr>
          <a:xfrm>
            <a:off x="9244584" y="355701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8</a:t>
            </a:r>
            <a:endParaRPr lang="en-US" sz="1600" dirty="0"/>
          </a:p>
        </p:txBody>
      </p:sp>
      <p:sp>
        <p:nvSpPr>
          <p:cNvPr id="49" name="Text 47"/>
          <p:cNvSpPr/>
          <p:nvPr/>
        </p:nvSpPr>
        <p:spPr>
          <a:xfrm>
            <a:off x="9774936" y="3575304"/>
            <a:ext cx="1764792" cy="228600"/>
          </a:xfrm>
          <a:prstGeom prst="rect">
            <a:avLst/>
          </a:prstGeom>
          <a:noFill/>
          <a:ln/>
        </p:spPr>
        <p:txBody>
          <a:bodyPr wrap="square" lIns="0" tIns="0" rIns="0" bIns="0" rtlCol="0" anchor="ctr"/>
          <a:lstStyle/>
          <a:p>
            <a:pPr indent="0" marL="0">
              <a:buNone/>
            </a:pPr>
            <a:r>
              <a:rPr lang="en-US" sz="900" b="1" dirty="0">
                <a:solidFill>
                  <a:srgbClr val="E0A82E"/>
                </a:solidFill>
                <a:latin typeface="Calibri" pitchFamily="34" charset="0"/>
                <a:ea typeface="Calibri" pitchFamily="34" charset="-122"/>
                <a:cs typeface="Calibri" pitchFamily="34" charset="-120"/>
              </a:rPr>
              <a:t>WEEK</a:t>
            </a:r>
            <a:endParaRPr lang="en-US" sz="900" dirty="0"/>
          </a:p>
        </p:txBody>
      </p:sp>
      <p:sp>
        <p:nvSpPr>
          <p:cNvPr id="50" name="Text 48"/>
          <p:cNvSpPr/>
          <p:nvPr/>
        </p:nvSpPr>
        <p:spPr>
          <a:xfrm>
            <a:off x="9244584" y="4123944"/>
            <a:ext cx="2221992" cy="502920"/>
          </a:xfrm>
          <a:prstGeom prst="rect">
            <a:avLst/>
          </a:prstGeom>
          <a:noFill/>
          <a:ln/>
        </p:spPr>
        <p:txBody>
          <a:bodyPr wrap="square" lIns="0" tIns="0" rIns="0" bIns="0" rtlCol="0" anchor="ctr"/>
          <a:lstStyle/>
          <a:p>
            <a:pPr indent="0" marL="0">
              <a:buNone/>
            </a:pPr>
            <a:r>
              <a:rPr lang="en-US" sz="1150" b="1" dirty="0">
                <a:solidFill>
                  <a:srgbClr val="1B1F3B"/>
                </a:solidFill>
                <a:latin typeface="Cambria" pitchFamily="34" charset="0"/>
                <a:ea typeface="Cambria" pitchFamily="34" charset="-122"/>
                <a:cs typeface="Cambria" pitchFamily="34" charset="-120"/>
              </a:rPr>
              <a:t>Capstone Project</a:t>
            </a:r>
            <a:endParaRPr lang="en-US" sz="1150" dirty="0"/>
          </a:p>
        </p:txBody>
      </p:sp>
      <p:sp>
        <p:nvSpPr>
          <p:cNvPr id="51" name="Text 49"/>
          <p:cNvSpPr/>
          <p:nvPr/>
        </p:nvSpPr>
        <p:spPr>
          <a:xfrm>
            <a:off x="9244584" y="4608576"/>
            <a:ext cx="2221992" cy="32004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Full-stack e-commerce app: FastAPI + SQLAlchemy + React</a:t>
            </a:r>
            <a:endParaRPr lang="en-US" sz="900" dirty="0"/>
          </a:p>
        </p:txBody>
      </p:sp>
      <p:sp>
        <p:nvSpPr>
          <p:cNvPr id="52" name="Text 50"/>
          <p:cNvSpPr/>
          <p:nvPr/>
        </p:nvSpPr>
        <p:spPr>
          <a:xfrm>
            <a:off x="457200" y="6547104"/>
            <a:ext cx="8229600" cy="274320"/>
          </a:xfrm>
          <a:prstGeom prst="rect">
            <a:avLst/>
          </a:prstGeom>
          <a:noFill/>
          <a:ln/>
        </p:spPr>
        <p:txBody>
          <a:bodyPr wrap="square" lIns="0" tIns="0" rIns="0" bIns="0" rtlCol="0" anchor="ctr"/>
          <a:lstStyle/>
          <a:p>
            <a:pPr algn="l" indent="0" marL="0">
              <a:buNone/>
            </a:pPr>
            <a:r>
              <a:rPr lang="en-US" sz="1000" dirty="0">
                <a:solidFill>
                  <a:srgbClr val="6B7280"/>
                </a:solidFill>
                <a:latin typeface="Calibri" pitchFamily="34" charset="0"/>
                <a:ea typeface="Calibri" pitchFamily="34" charset="-122"/>
                <a:cs typeface="Calibri" pitchFamily="34" charset="-120"/>
              </a:rPr>
              <a:t>Python Full Stack Development Virtual Internship  •  Sujal Gautam</a:t>
            </a:r>
            <a:endParaRPr lang="en-US" sz="1000" dirty="0"/>
          </a:p>
        </p:txBody>
      </p:sp>
      <p:sp>
        <p:nvSpPr>
          <p:cNvPr id="53" name="Text 51"/>
          <p:cNvSpPr/>
          <p:nvPr/>
        </p:nvSpPr>
        <p:spPr>
          <a:xfrm>
            <a:off x="11277295" y="6547104"/>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7315200" cy="320040"/>
          </a:xfrm>
          <a:prstGeom prst="rect">
            <a:avLst/>
          </a:prstGeom>
          <a:noFill/>
          <a:ln/>
        </p:spPr>
        <p:txBody>
          <a:bodyPr wrap="square" lIns="0" tIns="0" rIns="0" bIns="0" rtlCol="0" anchor="ctr"/>
          <a:lstStyle/>
          <a:p>
            <a:pPr indent="0" marL="0">
              <a:buNone/>
            </a:pPr>
            <a:r>
              <a:rPr lang="en-US" sz="1200" b="1" spc="200" kern="0" dirty="0">
                <a:solidFill>
                  <a:srgbClr val="E0A82E"/>
                </a:solidFill>
                <a:latin typeface="Calibri" pitchFamily="34" charset="0"/>
                <a:ea typeface="Calibri" pitchFamily="34" charset="-122"/>
                <a:cs typeface="Calibri" pitchFamily="34" charset="-120"/>
              </a:rPr>
              <a:t>EXPECTED OUTCOMES</a:t>
            </a:r>
            <a:endParaRPr lang="en-US" sz="1200" dirty="0"/>
          </a:p>
        </p:txBody>
      </p:sp>
      <p:sp>
        <p:nvSpPr>
          <p:cNvPr id="3" name="Text 1"/>
          <p:cNvSpPr/>
          <p:nvPr/>
        </p:nvSpPr>
        <p:spPr>
          <a:xfrm>
            <a:off x="640080" y="749808"/>
            <a:ext cx="10881360" cy="640080"/>
          </a:xfrm>
          <a:prstGeom prst="rect">
            <a:avLst/>
          </a:prstGeom>
          <a:noFill/>
          <a:ln/>
        </p:spPr>
        <p:txBody>
          <a:bodyPr wrap="square" lIns="0" tIns="0" rIns="0" bIns="0" rtlCol="0" anchor="ctr"/>
          <a:lstStyle/>
          <a:p>
            <a:pPr indent="0" marL="0">
              <a:buNone/>
            </a:pPr>
            <a:r>
              <a:rPr lang="en-US" sz="3000" b="1" dirty="0">
                <a:solidFill>
                  <a:srgbClr val="1B1F3B"/>
                </a:solidFill>
                <a:latin typeface="Cambria" pitchFamily="34" charset="0"/>
                <a:ea typeface="Cambria" pitchFamily="34" charset="-122"/>
                <a:cs typeface="Cambria" pitchFamily="34" charset="-120"/>
              </a:rPr>
              <a:t>Skills &amp; Capabilities Gained</a:t>
            </a:r>
            <a:endParaRPr lang="en-US" sz="3000" dirty="0"/>
          </a:p>
        </p:txBody>
      </p:sp>
      <p:sp>
        <p:nvSpPr>
          <p:cNvPr id="4" name="Shape 2"/>
          <p:cNvSpPr/>
          <p:nvPr/>
        </p:nvSpPr>
        <p:spPr>
          <a:xfrm>
            <a:off x="640080" y="1691640"/>
            <a:ext cx="329184" cy="329184"/>
          </a:xfrm>
          <a:prstGeom prst="ellipse">
            <a:avLst/>
          </a:prstGeom>
          <a:solidFill>
            <a:srgbClr val="1E2761"/>
          </a:solidFill>
          <a:ln/>
        </p:spPr>
      </p:sp>
      <p:sp>
        <p:nvSpPr>
          <p:cNvPr id="5" name="Text 3"/>
          <p:cNvSpPr/>
          <p:nvPr/>
        </p:nvSpPr>
        <p:spPr>
          <a:xfrm>
            <a:off x="640080" y="169164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rPr>
              <a:t>✓</a:t>
            </a:r>
            <a:endParaRPr lang="en-US" sz="1300" dirty="0"/>
          </a:p>
        </p:txBody>
      </p:sp>
      <p:sp>
        <p:nvSpPr>
          <p:cNvPr id="6" name="Text 4"/>
          <p:cNvSpPr/>
          <p:nvPr/>
        </p:nvSpPr>
        <p:spPr>
          <a:xfrm>
            <a:off x="1143000" y="1636776"/>
            <a:ext cx="10332720" cy="457200"/>
          </a:xfrm>
          <a:prstGeom prst="rect">
            <a:avLst/>
          </a:prstGeom>
          <a:noFill/>
          <a:ln/>
        </p:spPr>
        <p:txBody>
          <a:bodyPr wrap="square" lIns="0" tIns="0" rIns="0" bIns="0" rtlCol="0" anchor="ctr"/>
          <a:lstStyle/>
          <a:p>
            <a:pPr indent="0" marL="0">
              <a:buNone/>
            </a:pPr>
            <a:r>
              <a:rPr lang="en-US" sz="1400" dirty="0">
                <a:solidFill>
                  <a:srgbClr val="1B1F3B"/>
                </a:solidFill>
                <a:latin typeface="Calibri" pitchFamily="34" charset="0"/>
                <a:ea typeface="Calibri" pitchFamily="34" charset="-122"/>
                <a:cs typeface="Calibri" pitchFamily="34" charset="-120"/>
              </a:rPr>
              <a:t>Practical understanding of implementing in-memory data structures for key-value storage</a:t>
            </a:r>
            <a:endParaRPr lang="en-US" sz="1400" dirty="0"/>
          </a:p>
        </p:txBody>
      </p:sp>
      <p:sp>
        <p:nvSpPr>
          <p:cNvPr id="7" name="Shape 5"/>
          <p:cNvSpPr/>
          <p:nvPr/>
        </p:nvSpPr>
        <p:spPr>
          <a:xfrm>
            <a:off x="640080" y="2404872"/>
            <a:ext cx="329184" cy="329184"/>
          </a:xfrm>
          <a:prstGeom prst="ellipse">
            <a:avLst/>
          </a:prstGeom>
          <a:solidFill>
            <a:srgbClr val="1E2761"/>
          </a:solidFill>
          <a:ln/>
        </p:spPr>
      </p:sp>
      <p:sp>
        <p:nvSpPr>
          <p:cNvPr id="8" name="Text 6"/>
          <p:cNvSpPr/>
          <p:nvPr/>
        </p:nvSpPr>
        <p:spPr>
          <a:xfrm>
            <a:off x="640080" y="24048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rPr>
              <a:t>✓</a:t>
            </a:r>
            <a:endParaRPr lang="en-US" sz="1300" dirty="0"/>
          </a:p>
        </p:txBody>
      </p:sp>
      <p:sp>
        <p:nvSpPr>
          <p:cNvPr id="9" name="Text 7"/>
          <p:cNvSpPr/>
          <p:nvPr/>
        </p:nvSpPr>
        <p:spPr>
          <a:xfrm>
            <a:off x="1143000" y="2350008"/>
            <a:ext cx="10332720" cy="457200"/>
          </a:xfrm>
          <a:prstGeom prst="rect">
            <a:avLst/>
          </a:prstGeom>
          <a:noFill/>
          <a:ln/>
        </p:spPr>
        <p:txBody>
          <a:bodyPr wrap="square" lIns="0" tIns="0" rIns="0" bIns="0" rtlCol="0" anchor="ctr"/>
          <a:lstStyle/>
          <a:p>
            <a:pPr indent="0" marL="0">
              <a:buNone/>
            </a:pPr>
            <a:r>
              <a:rPr lang="en-US" sz="1400" dirty="0">
                <a:solidFill>
                  <a:srgbClr val="1B1F3B"/>
                </a:solidFill>
                <a:latin typeface="Calibri" pitchFamily="34" charset="0"/>
                <a:ea typeface="Calibri" pitchFamily="34" charset="-122"/>
                <a:cs typeface="Calibri" pitchFamily="34" charset="-120"/>
              </a:rPr>
              <a:t>Experience managing data lifecycle through Time-To-Live (TTL) expiration mechanisms</a:t>
            </a:r>
            <a:endParaRPr lang="en-US" sz="1400" dirty="0"/>
          </a:p>
        </p:txBody>
      </p:sp>
      <p:sp>
        <p:nvSpPr>
          <p:cNvPr id="10" name="Shape 8"/>
          <p:cNvSpPr/>
          <p:nvPr/>
        </p:nvSpPr>
        <p:spPr>
          <a:xfrm>
            <a:off x="640080" y="3118104"/>
            <a:ext cx="329184" cy="329184"/>
          </a:xfrm>
          <a:prstGeom prst="ellipse">
            <a:avLst/>
          </a:prstGeom>
          <a:solidFill>
            <a:srgbClr val="1E2761"/>
          </a:solidFill>
          <a:ln/>
        </p:spPr>
      </p:sp>
      <p:sp>
        <p:nvSpPr>
          <p:cNvPr id="11" name="Text 9"/>
          <p:cNvSpPr/>
          <p:nvPr/>
        </p:nvSpPr>
        <p:spPr>
          <a:xfrm>
            <a:off x="640080" y="311810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rPr>
              <a:t>✓</a:t>
            </a:r>
            <a:endParaRPr lang="en-US" sz="1300" dirty="0"/>
          </a:p>
        </p:txBody>
      </p:sp>
      <p:sp>
        <p:nvSpPr>
          <p:cNvPr id="12" name="Text 10"/>
          <p:cNvSpPr/>
          <p:nvPr/>
        </p:nvSpPr>
        <p:spPr>
          <a:xfrm>
            <a:off x="1143000" y="3063240"/>
            <a:ext cx="10332720" cy="457200"/>
          </a:xfrm>
          <a:prstGeom prst="rect">
            <a:avLst/>
          </a:prstGeom>
          <a:noFill/>
          <a:ln/>
        </p:spPr>
        <p:txBody>
          <a:bodyPr wrap="square" lIns="0" tIns="0" rIns="0" bIns="0" rtlCol="0" anchor="ctr"/>
          <a:lstStyle/>
          <a:p>
            <a:pPr indent="0" marL="0">
              <a:buNone/>
            </a:pPr>
            <a:r>
              <a:rPr lang="en-US" sz="1400" dirty="0">
                <a:solidFill>
                  <a:srgbClr val="1B1F3B"/>
                </a:solidFill>
                <a:latin typeface="Calibri" pitchFamily="34" charset="0"/>
                <a:ea typeface="Calibri" pitchFamily="34" charset="-122"/>
                <a:cs typeface="Calibri" pitchFamily="34" charset="-120"/>
              </a:rPr>
              <a:t>Skill in tracking and analyzing cache performance metrics like hits and misses</a:t>
            </a:r>
            <a:endParaRPr lang="en-US" sz="1400" dirty="0"/>
          </a:p>
        </p:txBody>
      </p:sp>
      <p:sp>
        <p:nvSpPr>
          <p:cNvPr id="13" name="Shape 11"/>
          <p:cNvSpPr/>
          <p:nvPr/>
        </p:nvSpPr>
        <p:spPr>
          <a:xfrm>
            <a:off x="640080" y="3831336"/>
            <a:ext cx="329184" cy="329184"/>
          </a:xfrm>
          <a:prstGeom prst="ellipse">
            <a:avLst/>
          </a:prstGeom>
          <a:solidFill>
            <a:srgbClr val="1E2761"/>
          </a:solidFill>
          <a:ln/>
        </p:spPr>
      </p:sp>
      <p:sp>
        <p:nvSpPr>
          <p:cNvPr id="14" name="Text 12"/>
          <p:cNvSpPr/>
          <p:nvPr/>
        </p:nvSpPr>
        <p:spPr>
          <a:xfrm>
            <a:off x="640080" y="383133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rPr>
              <a:t>✓</a:t>
            </a:r>
            <a:endParaRPr lang="en-US" sz="1300" dirty="0"/>
          </a:p>
        </p:txBody>
      </p:sp>
      <p:sp>
        <p:nvSpPr>
          <p:cNvPr id="15" name="Text 13"/>
          <p:cNvSpPr/>
          <p:nvPr/>
        </p:nvSpPr>
        <p:spPr>
          <a:xfrm>
            <a:off x="1143000" y="3776472"/>
            <a:ext cx="10332720" cy="457200"/>
          </a:xfrm>
          <a:prstGeom prst="rect">
            <a:avLst/>
          </a:prstGeom>
          <a:noFill/>
          <a:ln/>
        </p:spPr>
        <p:txBody>
          <a:bodyPr wrap="square" lIns="0" tIns="0" rIns="0" bIns="0" rtlCol="0" anchor="ctr"/>
          <a:lstStyle/>
          <a:p>
            <a:pPr indent="0" marL="0">
              <a:buNone/>
            </a:pPr>
            <a:r>
              <a:rPr lang="en-US" sz="1400" dirty="0">
                <a:solidFill>
                  <a:srgbClr val="1B1F3B"/>
                </a:solidFill>
                <a:latin typeface="Calibri" pitchFamily="34" charset="0"/>
                <a:ea typeface="Calibri" pitchFamily="34" charset="-122"/>
                <a:cs typeface="Calibri" pitchFamily="34" charset="-120"/>
              </a:rPr>
              <a:t>Proficiency in Python for building stateful applications and structured JSON reports</a:t>
            </a:r>
            <a:endParaRPr lang="en-US" sz="1400" dirty="0"/>
          </a:p>
        </p:txBody>
      </p:sp>
      <p:sp>
        <p:nvSpPr>
          <p:cNvPr id="16" name="Shape 14"/>
          <p:cNvSpPr/>
          <p:nvPr/>
        </p:nvSpPr>
        <p:spPr>
          <a:xfrm>
            <a:off x="640080" y="4544568"/>
            <a:ext cx="329184" cy="329184"/>
          </a:xfrm>
          <a:prstGeom prst="ellipse">
            <a:avLst/>
          </a:prstGeom>
          <a:solidFill>
            <a:srgbClr val="1E2761"/>
          </a:solidFill>
          <a:ln/>
        </p:spPr>
      </p:sp>
      <p:sp>
        <p:nvSpPr>
          <p:cNvPr id="17" name="Text 15"/>
          <p:cNvSpPr/>
          <p:nvPr/>
        </p:nvSpPr>
        <p:spPr>
          <a:xfrm>
            <a:off x="640080" y="454456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rPr>
              <a:t>✓</a:t>
            </a:r>
            <a:endParaRPr lang="en-US" sz="1300" dirty="0"/>
          </a:p>
        </p:txBody>
      </p:sp>
      <p:sp>
        <p:nvSpPr>
          <p:cNvPr id="18" name="Text 16"/>
          <p:cNvSpPr/>
          <p:nvPr/>
        </p:nvSpPr>
        <p:spPr>
          <a:xfrm>
            <a:off x="1143000" y="4489704"/>
            <a:ext cx="10332720" cy="457200"/>
          </a:xfrm>
          <a:prstGeom prst="rect">
            <a:avLst/>
          </a:prstGeom>
          <a:noFill/>
          <a:ln/>
        </p:spPr>
        <p:txBody>
          <a:bodyPr wrap="square" lIns="0" tIns="0" rIns="0" bIns="0" rtlCol="0" anchor="ctr"/>
          <a:lstStyle/>
          <a:p>
            <a:pPr indent="0" marL="0">
              <a:buNone/>
            </a:pPr>
            <a:r>
              <a:rPr lang="en-US" sz="1400" dirty="0">
                <a:solidFill>
                  <a:srgbClr val="1B1F3B"/>
                </a:solidFill>
                <a:latin typeface="Calibri" pitchFamily="34" charset="0"/>
                <a:ea typeface="Calibri" pitchFamily="34" charset="-122"/>
                <a:cs typeface="Calibri" pitchFamily="34" charset="-120"/>
              </a:rPr>
              <a:t>Hands-on exposure to FastAPI, React, and SQLAlchemy across the full stack</a:t>
            </a:r>
            <a:endParaRPr lang="en-US" sz="1400" dirty="0"/>
          </a:p>
        </p:txBody>
      </p:sp>
      <p:sp>
        <p:nvSpPr>
          <p:cNvPr id="19" name="Shape 17"/>
          <p:cNvSpPr/>
          <p:nvPr/>
        </p:nvSpPr>
        <p:spPr>
          <a:xfrm>
            <a:off x="640080" y="5257800"/>
            <a:ext cx="329184" cy="329184"/>
          </a:xfrm>
          <a:prstGeom prst="ellipse">
            <a:avLst/>
          </a:prstGeom>
          <a:solidFill>
            <a:srgbClr val="1E2761"/>
          </a:solidFill>
          <a:ln/>
        </p:spPr>
      </p:sp>
      <p:sp>
        <p:nvSpPr>
          <p:cNvPr id="20" name="Text 18"/>
          <p:cNvSpPr/>
          <p:nvPr/>
        </p:nvSpPr>
        <p:spPr>
          <a:xfrm>
            <a:off x="640080" y="525780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rPr>
              <a:t>✓</a:t>
            </a:r>
            <a:endParaRPr lang="en-US" sz="1300" dirty="0"/>
          </a:p>
        </p:txBody>
      </p:sp>
      <p:sp>
        <p:nvSpPr>
          <p:cNvPr id="21" name="Text 19"/>
          <p:cNvSpPr/>
          <p:nvPr/>
        </p:nvSpPr>
        <p:spPr>
          <a:xfrm>
            <a:off x="1143000" y="5202936"/>
            <a:ext cx="10332720" cy="457200"/>
          </a:xfrm>
          <a:prstGeom prst="rect">
            <a:avLst/>
          </a:prstGeom>
          <a:noFill/>
          <a:ln/>
        </p:spPr>
        <p:txBody>
          <a:bodyPr wrap="square" lIns="0" tIns="0" rIns="0" bIns="0" rtlCol="0" anchor="ctr"/>
          <a:lstStyle/>
          <a:p>
            <a:pPr indent="0" marL="0">
              <a:buNone/>
            </a:pPr>
            <a:r>
              <a:rPr lang="en-US" sz="1400" dirty="0">
                <a:solidFill>
                  <a:srgbClr val="1B1F3B"/>
                </a:solidFill>
                <a:latin typeface="Calibri" pitchFamily="34" charset="0"/>
                <a:ea typeface="Calibri" pitchFamily="34" charset="-122"/>
                <a:cs typeface="Calibri" pitchFamily="34" charset="-120"/>
              </a:rPr>
              <a:t>Completed all learning modules and cleared the Final Assessment with an “Outstanding” grade</a:t>
            </a:r>
            <a:endParaRPr lang="en-US" sz="1400" dirty="0"/>
          </a:p>
        </p:txBody>
      </p:sp>
      <p:sp>
        <p:nvSpPr>
          <p:cNvPr id="22" name="Text 20"/>
          <p:cNvSpPr/>
          <p:nvPr/>
        </p:nvSpPr>
        <p:spPr>
          <a:xfrm>
            <a:off x="457200" y="6547104"/>
            <a:ext cx="8229600" cy="274320"/>
          </a:xfrm>
          <a:prstGeom prst="rect">
            <a:avLst/>
          </a:prstGeom>
          <a:noFill/>
          <a:ln/>
        </p:spPr>
        <p:txBody>
          <a:bodyPr wrap="square" lIns="0" tIns="0" rIns="0" bIns="0" rtlCol="0" anchor="ctr"/>
          <a:lstStyle/>
          <a:p>
            <a:pPr algn="l" indent="0" marL="0">
              <a:buNone/>
            </a:pPr>
            <a:r>
              <a:rPr lang="en-US" sz="1000" dirty="0">
                <a:solidFill>
                  <a:srgbClr val="6B7280"/>
                </a:solidFill>
                <a:latin typeface="Calibri" pitchFamily="34" charset="0"/>
                <a:ea typeface="Calibri" pitchFamily="34" charset="-122"/>
                <a:cs typeface="Calibri" pitchFamily="34" charset="-120"/>
              </a:rPr>
              <a:t>Python Full Stack Development Virtual Internship  •  Sujal Gautam</a:t>
            </a:r>
            <a:endParaRPr lang="en-US" sz="1000" dirty="0"/>
          </a:p>
        </p:txBody>
      </p:sp>
      <p:sp>
        <p:nvSpPr>
          <p:cNvPr id="23" name="Text 21"/>
          <p:cNvSpPr/>
          <p:nvPr/>
        </p:nvSpPr>
        <p:spPr>
          <a:xfrm>
            <a:off x="11277295" y="6547104"/>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463040" y="-1463040"/>
            <a:ext cx="4023360" cy="4023360"/>
          </a:xfrm>
          <a:prstGeom prst="ellipse">
            <a:avLst/>
          </a:prstGeom>
          <a:solidFill>
            <a:srgbClr val="161C4A"/>
          </a:solidFill>
          <a:ln/>
        </p:spPr>
      </p:sp>
      <p:sp>
        <p:nvSpPr>
          <p:cNvPr id="3" name="Text 1"/>
          <p:cNvSpPr/>
          <p:nvPr/>
        </p:nvSpPr>
        <p:spPr>
          <a:xfrm>
            <a:off x="640080" y="457200"/>
            <a:ext cx="7315200" cy="320040"/>
          </a:xfrm>
          <a:prstGeom prst="rect">
            <a:avLst/>
          </a:prstGeom>
          <a:noFill/>
          <a:ln/>
        </p:spPr>
        <p:txBody>
          <a:bodyPr wrap="square" lIns="0" tIns="0" rIns="0" bIns="0" rtlCol="0" anchor="ctr"/>
          <a:lstStyle/>
          <a:p>
            <a:pPr indent="0" marL="0">
              <a:buNone/>
            </a:pPr>
            <a:r>
              <a:rPr lang="en-US" sz="1200" b="1" spc="200" kern="0" dirty="0">
                <a:solidFill>
                  <a:srgbClr val="E0A82E"/>
                </a:solidFill>
                <a:latin typeface="Calibri" pitchFamily="34" charset="0"/>
                <a:ea typeface="Calibri" pitchFamily="34" charset="-122"/>
                <a:cs typeface="Calibri" pitchFamily="34" charset="-120"/>
              </a:rPr>
              <a:t>CERTIFICATION</a:t>
            </a:r>
            <a:endParaRPr lang="en-US" sz="1200" dirty="0"/>
          </a:p>
        </p:txBody>
      </p:sp>
      <p:sp>
        <p:nvSpPr>
          <p:cNvPr id="4" name="Text 2"/>
          <p:cNvSpPr/>
          <p:nvPr/>
        </p:nvSpPr>
        <p:spPr>
          <a:xfrm>
            <a:off x="640080" y="749808"/>
            <a:ext cx="4846320" cy="64008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Successfully Completed</a:t>
            </a:r>
            <a:endParaRPr lang="en-US" sz="2800" dirty="0"/>
          </a:p>
        </p:txBody>
      </p:sp>
      <p:sp>
        <p:nvSpPr>
          <p:cNvPr id="5" name="Shape 3"/>
          <p:cNvSpPr/>
          <p:nvPr/>
        </p:nvSpPr>
        <p:spPr>
          <a:xfrm>
            <a:off x="640080" y="1874520"/>
            <a:ext cx="457200" cy="457200"/>
          </a:xfrm>
          <a:prstGeom prst="ellipse">
            <a:avLst/>
          </a:prstGeom>
          <a:solidFill>
            <a:srgbClr val="161C4A"/>
          </a:solidFill>
          <a:ln/>
        </p:spPr>
      </p:sp>
      <p:sp>
        <p:nvSpPr>
          <p:cNvPr id="6" name="Text 4"/>
          <p:cNvSpPr/>
          <p:nvPr/>
        </p:nvSpPr>
        <p:spPr>
          <a:xfrm>
            <a:off x="1280160" y="1856232"/>
            <a:ext cx="4023360" cy="256032"/>
          </a:xfrm>
          <a:prstGeom prst="rect">
            <a:avLst/>
          </a:prstGeom>
          <a:noFill/>
          <a:ln/>
        </p:spPr>
        <p:txBody>
          <a:bodyPr wrap="square" lIns="0" tIns="0" rIns="0" bIns="0" rtlCol="0" anchor="ctr"/>
          <a:lstStyle/>
          <a:p>
            <a:pPr indent="0" marL="0">
              <a:buNone/>
            </a:pPr>
            <a:r>
              <a:rPr lang="en-US" sz="1100" b="1" dirty="0">
                <a:solidFill>
                  <a:srgbClr val="E0A82E"/>
                </a:solidFill>
                <a:latin typeface="Calibri" pitchFamily="34" charset="0"/>
                <a:ea typeface="Calibri" pitchFamily="34" charset="-122"/>
                <a:cs typeface="Calibri" pitchFamily="34" charset="-120"/>
              </a:rPr>
              <a:t>Grade</a:t>
            </a:r>
            <a:endParaRPr lang="en-US" sz="1100" dirty="0"/>
          </a:p>
        </p:txBody>
      </p:sp>
      <p:sp>
        <p:nvSpPr>
          <p:cNvPr id="7" name="Text 5"/>
          <p:cNvSpPr/>
          <p:nvPr/>
        </p:nvSpPr>
        <p:spPr>
          <a:xfrm>
            <a:off x="1280160" y="2084832"/>
            <a:ext cx="4023360" cy="365760"/>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O – Outstanding</a:t>
            </a:r>
            <a:endParaRPr lang="en-US" sz="1450" dirty="0"/>
          </a:p>
        </p:txBody>
      </p:sp>
      <p:sp>
        <p:nvSpPr>
          <p:cNvPr id="8" name="Shape 6"/>
          <p:cNvSpPr/>
          <p:nvPr/>
        </p:nvSpPr>
        <p:spPr>
          <a:xfrm>
            <a:off x="640080" y="2743200"/>
            <a:ext cx="457200" cy="457200"/>
          </a:xfrm>
          <a:prstGeom prst="ellipse">
            <a:avLst/>
          </a:prstGeom>
          <a:solidFill>
            <a:srgbClr val="161C4A"/>
          </a:solidFill>
          <a:ln/>
        </p:spPr>
      </p:sp>
      <p:sp>
        <p:nvSpPr>
          <p:cNvPr id="9" name="Text 7"/>
          <p:cNvSpPr/>
          <p:nvPr/>
        </p:nvSpPr>
        <p:spPr>
          <a:xfrm>
            <a:off x="1280160" y="2724912"/>
            <a:ext cx="4023360" cy="256032"/>
          </a:xfrm>
          <a:prstGeom prst="rect">
            <a:avLst/>
          </a:prstGeom>
          <a:noFill/>
          <a:ln/>
        </p:spPr>
        <p:txBody>
          <a:bodyPr wrap="square" lIns="0" tIns="0" rIns="0" bIns="0" rtlCol="0" anchor="ctr"/>
          <a:lstStyle/>
          <a:p>
            <a:pPr indent="0" marL="0">
              <a:buNone/>
            </a:pPr>
            <a:r>
              <a:rPr lang="en-US" sz="1100" b="1" dirty="0">
                <a:solidFill>
                  <a:srgbClr val="E0A82E"/>
                </a:solidFill>
                <a:latin typeface="Calibri" pitchFamily="34" charset="0"/>
                <a:ea typeface="Calibri" pitchFamily="34" charset="-122"/>
                <a:cs typeface="Calibri" pitchFamily="34" charset="-120"/>
              </a:rPr>
              <a:t>Certificate ID</a:t>
            </a:r>
            <a:endParaRPr lang="en-US" sz="1100" dirty="0"/>
          </a:p>
        </p:txBody>
      </p:sp>
      <p:sp>
        <p:nvSpPr>
          <p:cNvPr id="10" name="Text 8"/>
          <p:cNvSpPr/>
          <p:nvPr/>
        </p:nvSpPr>
        <p:spPr>
          <a:xfrm>
            <a:off x="1280160" y="2953512"/>
            <a:ext cx="4023360" cy="365760"/>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4d05a145fda54e73758d</a:t>
            </a:r>
            <a:endParaRPr lang="en-US" sz="1450" dirty="0"/>
          </a:p>
        </p:txBody>
      </p:sp>
      <p:sp>
        <p:nvSpPr>
          <p:cNvPr id="11" name="Shape 9"/>
          <p:cNvSpPr/>
          <p:nvPr/>
        </p:nvSpPr>
        <p:spPr>
          <a:xfrm>
            <a:off x="640080" y="3611880"/>
            <a:ext cx="457200" cy="457200"/>
          </a:xfrm>
          <a:prstGeom prst="ellipse">
            <a:avLst/>
          </a:prstGeom>
          <a:solidFill>
            <a:srgbClr val="161C4A"/>
          </a:solidFill>
          <a:ln/>
        </p:spPr>
      </p:sp>
      <p:sp>
        <p:nvSpPr>
          <p:cNvPr id="12" name="Text 10"/>
          <p:cNvSpPr/>
          <p:nvPr/>
        </p:nvSpPr>
        <p:spPr>
          <a:xfrm>
            <a:off x="1280160" y="3593592"/>
            <a:ext cx="4023360" cy="256032"/>
          </a:xfrm>
          <a:prstGeom prst="rect">
            <a:avLst/>
          </a:prstGeom>
          <a:noFill/>
          <a:ln/>
        </p:spPr>
        <p:txBody>
          <a:bodyPr wrap="square" lIns="0" tIns="0" rIns="0" bIns="0" rtlCol="0" anchor="ctr"/>
          <a:lstStyle/>
          <a:p>
            <a:pPr indent="0" marL="0">
              <a:buNone/>
            </a:pPr>
            <a:r>
              <a:rPr lang="en-US" sz="1100" b="1" dirty="0">
                <a:solidFill>
                  <a:srgbClr val="E0A82E"/>
                </a:solidFill>
                <a:latin typeface="Calibri" pitchFamily="34" charset="0"/>
                <a:ea typeface="Calibri" pitchFamily="34" charset="-122"/>
                <a:cs typeface="Calibri" pitchFamily="34" charset="-120"/>
              </a:rPr>
              <a:t>Student ID</a:t>
            </a:r>
            <a:endParaRPr lang="en-US" sz="1100" dirty="0"/>
          </a:p>
        </p:txBody>
      </p:sp>
      <p:sp>
        <p:nvSpPr>
          <p:cNvPr id="13" name="Text 11"/>
          <p:cNvSpPr/>
          <p:nvPr/>
        </p:nvSpPr>
        <p:spPr>
          <a:xfrm>
            <a:off x="1280160" y="3822192"/>
            <a:ext cx="4023360" cy="365760"/>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STU69e5258d296b31776625037</a:t>
            </a:r>
            <a:endParaRPr lang="en-US" sz="1450" dirty="0"/>
          </a:p>
        </p:txBody>
      </p:sp>
      <p:sp>
        <p:nvSpPr>
          <p:cNvPr id="14" name="Shape 12"/>
          <p:cNvSpPr/>
          <p:nvPr/>
        </p:nvSpPr>
        <p:spPr>
          <a:xfrm>
            <a:off x="640080" y="4480560"/>
            <a:ext cx="457200" cy="457200"/>
          </a:xfrm>
          <a:prstGeom prst="ellipse">
            <a:avLst/>
          </a:prstGeom>
          <a:solidFill>
            <a:srgbClr val="161C4A"/>
          </a:solidFill>
          <a:ln/>
        </p:spPr>
      </p:sp>
      <p:sp>
        <p:nvSpPr>
          <p:cNvPr id="15" name="Text 13"/>
          <p:cNvSpPr/>
          <p:nvPr/>
        </p:nvSpPr>
        <p:spPr>
          <a:xfrm>
            <a:off x="1280160" y="4462272"/>
            <a:ext cx="4023360" cy="256032"/>
          </a:xfrm>
          <a:prstGeom prst="rect">
            <a:avLst/>
          </a:prstGeom>
          <a:noFill/>
          <a:ln/>
        </p:spPr>
        <p:txBody>
          <a:bodyPr wrap="square" lIns="0" tIns="0" rIns="0" bIns="0" rtlCol="0" anchor="ctr"/>
          <a:lstStyle/>
          <a:p>
            <a:pPr indent="0" marL="0">
              <a:buNone/>
            </a:pPr>
            <a:r>
              <a:rPr lang="en-US" sz="1100" b="1" dirty="0">
                <a:solidFill>
                  <a:srgbClr val="E0A82E"/>
                </a:solidFill>
                <a:latin typeface="Calibri" pitchFamily="34" charset="0"/>
                <a:ea typeface="Calibri" pitchFamily="34" charset="-122"/>
                <a:cs typeface="Calibri" pitchFamily="34" charset="-120"/>
              </a:rPr>
              <a:t>Duration</a:t>
            </a:r>
            <a:endParaRPr lang="en-US" sz="1100" dirty="0"/>
          </a:p>
        </p:txBody>
      </p:sp>
      <p:sp>
        <p:nvSpPr>
          <p:cNvPr id="16" name="Text 14"/>
          <p:cNvSpPr/>
          <p:nvPr/>
        </p:nvSpPr>
        <p:spPr>
          <a:xfrm>
            <a:off x="1280160" y="4690872"/>
            <a:ext cx="4023360" cy="365760"/>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8 Weeks | June – August 2026</a:t>
            </a:r>
            <a:endParaRPr lang="en-US" sz="1450" dirty="0"/>
          </a:p>
        </p:txBody>
      </p:sp>
      <p:sp>
        <p:nvSpPr>
          <p:cNvPr id="17" name="Shape 15"/>
          <p:cNvSpPr/>
          <p:nvPr/>
        </p:nvSpPr>
        <p:spPr>
          <a:xfrm>
            <a:off x="5989320" y="822960"/>
            <a:ext cx="5577840" cy="5349240"/>
          </a:xfrm>
          <a:prstGeom prst="rect">
            <a:avLst/>
          </a:prstGeom>
          <a:solidFill>
            <a:srgbClr val="FFFFFF"/>
          </a:solidFill>
          <a:ln/>
          <a:effectLst>
            <a:outerShdw sx="100000" sy="100000" kx="0" ky="0" algn="bl" rotWithShape="0" blurRad="127000" dist="38100" dir="5400000">
              <a:srgbClr val="000000">
                <a:alpha val="30000"/>
              </a:srgbClr>
            </a:outerShdw>
          </a:effectLst>
        </p:spPr>
      </p:sp>
      <p:pic>
        <p:nvPicPr>
          <p:cNvPr id="18" name="Image 0" descr="/home/claude/ppt/cert-1.jpg">    </p:cNvPr>
          <p:cNvPicPr>
            <a:picLocks noChangeAspect="1"/>
          </p:cNvPicPr>
          <p:nvPr/>
        </p:nvPicPr>
        <p:blipFill>
          <a:blip r:embed="rId1"/>
          <a:stretch>
            <a:fillRect/>
          </a:stretch>
        </p:blipFill>
        <p:spPr>
          <a:xfrm>
            <a:off x="6172200" y="1005840"/>
            <a:ext cx="5212080" cy="4983480"/>
          </a:xfrm>
          <a:prstGeom prst="rect">
            <a:avLst/>
          </a:prstGeom>
        </p:spPr>
      </p:pic>
      <p:sp>
        <p:nvSpPr>
          <p:cNvPr id="19" name="Text 16"/>
          <p:cNvSpPr/>
          <p:nvPr/>
        </p:nvSpPr>
        <p:spPr>
          <a:xfrm>
            <a:off x="457200" y="6547104"/>
            <a:ext cx="8229600" cy="274320"/>
          </a:xfrm>
          <a:prstGeom prst="rect">
            <a:avLst/>
          </a:prstGeom>
          <a:noFill/>
          <a:ln/>
        </p:spPr>
        <p:txBody>
          <a:bodyPr wrap="square" lIns="0" tIns="0" rIns="0" bIns="0" rtlCol="0" anchor="ctr"/>
          <a:lstStyle/>
          <a:p>
            <a:pPr algn="l" indent="0" marL="0">
              <a:buNone/>
            </a:pPr>
            <a:r>
              <a:rPr lang="en-US" sz="1000" dirty="0">
                <a:solidFill>
                  <a:srgbClr val="6B7280"/>
                </a:solidFill>
                <a:latin typeface="Calibri" pitchFamily="34" charset="0"/>
                <a:ea typeface="Calibri" pitchFamily="34" charset="-122"/>
                <a:cs typeface="Calibri" pitchFamily="34" charset="-120"/>
              </a:rPr>
              <a:t>Python Full Stack Development Virtual Internship  •  Sujal Gautam</a:t>
            </a:r>
            <a:endParaRPr lang="en-US" sz="1000" dirty="0"/>
          </a:p>
        </p:txBody>
      </p:sp>
      <p:sp>
        <p:nvSpPr>
          <p:cNvPr id="20" name="Text 17"/>
          <p:cNvSpPr/>
          <p:nvPr/>
        </p:nvSpPr>
        <p:spPr>
          <a:xfrm>
            <a:off x="11277295" y="6547104"/>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9509760" y="-1645920"/>
            <a:ext cx="4572000" cy="4572000"/>
          </a:xfrm>
          <a:prstGeom prst="ellipse">
            <a:avLst/>
          </a:prstGeom>
          <a:solidFill>
            <a:srgbClr val="161C4A"/>
          </a:solidFill>
          <a:ln/>
        </p:spPr>
      </p:sp>
      <p:sp>
        <p:nvSpPr>
          <p:cNvPr id="3" name="Shape 1"/>
          <p:cNvSpPr/>
          <p:nvPr/>
        </p:nvSpPr>
        <p:spPr>
          <a:xfrm>
            <a:off x="-1645920" y="4389120"/>
            <a:ext cx="4206240" cy="4206240"/>
          </a:xfrm>
          <a:prstGeom prst="ellipse">
            <a:avLst/>
          </a:prstGeom>
          <a:solidFill>
            <a:srgbClr val="161C4A"/>
          </a:solidFill>
          <a:ln/>
        </p:spPr>
      </p:sp>
      <p:sp>
        <p:nvSpPr>
          <p:cNvPr id="4" name="Shape 2"/>
          <p:cNvSpPr/>
          <p:nvPr/>
        </p:nvSpPr>
        <p:spPr>
          <a:xfrm>
            <a:off x="5638648" y="1234440"/>
            <a:ext cx="914400" cy="914400"/>
          </a:xfrm>
          <a:prstGeom prst="ellipse">
            <a:avLst/>
          </a:prstGeom>
          <a:solidFill>
            <a:srgbClr val="161C4A"/>
          </a:solidFill>
          <a:ln w="19050">
            <a:solidFill>
              <a:srgbClr val="E0A82E"/>
            </a:solidFill>
            <a:prstDash val="solid"/>
          </a:ln>
        </p:spPr>
      </p:sp>
      <p:sp>
        <p:nvSpPr>
          <p:cNvPr id="5" name="Text 3"/>
          <p:cNvSpPr/>
          <p:nvPr/>
        </p:nvSpPr>
        <p:spPr>
          <a:xfrm>
            <a:off x="5638648" y="1234440"/>
            <a:ext cx="914400" cy="91440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6" name="Text 4"/>
          <p:cNvSpPr/>
          <p:nvPr/>
        </p:nvSpPr>
        <p:spPr>
          <a:xfrm>
            <a:off x="0" y="2514600"/>
            <a:ext cx="12191695" cy="914400"/>
          </a:xfrm>
          <a:prstGeom prst="rect">
            <a:avLst/>
          </a:prstGeom>
          <a:noFill/>
          <a:ln/>
        </p:spPr>
        <p:txBody>
          <a:bodyPr wrap="square" lIns="0" tIns="0" rIns="0" bIns="0"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Thank You</a:t>
            </a:r>
            <a:endParaRPr lang="en-US" sz="4400" dirty="0"/>
          </a:p>
        </p:txBody>
      </p:sp>
      <p:sp>
        <p:nvSpPr>
          <p:cNvPr id="7" name="Text 5"/>
          <p:cNvSpPr/>
          <p:nvPr/>
        </p:nvSpPr>
        <p:spPr>
          <a:xfrm>
            <a:off x="0" y="3429000"/>
            <a:ext cx="12191695" cy="365760"/>
          </a:xfrm>
          <a:prstGeom prst="rect">
            <a:avLst/>
          </a:prstGeom>
          <a:noFill/>
          <a:ln/>
        </p:spPr>
        <p:txBody>
          <a:bodyPr wrap="square" lIns="0" tIns="0" rIns="0" bIns="0" rtlCol="0" anchor="ctr"/>
          <a:lstStyle/>
          <a:p>
            <a:pPr algn="ctr" indent="0" marL="0">
              <a:buNone/>
            </a:pPr>
            <a:r>
              <a:rPr lang="en-US" sz="1400" dirty="0">
                <a:solidFill>
                  <a:srgbClr val="CADCFC"/>
                </a:solidFill>
                <a:latin typeface="Calibri" pitchFamily="34" charset="0"/>
                <a:ea typeface="Calibri" pitchFamily="34" charset="-122"/>
                <a:cs typeface="Calibri" pitchFamily="34" charset="-120"/>
              </a:rPr>
              <a:t>Python Full Stack Development With Project  |  AICTE – EduSkills Program</a:t>
            </a:r>
            <a:endParaRPr lang="en-US" sz="1400" dirty="0"/>
          </a:p>
        </p:txBody>
      </p:sp>
      <p:sp>
        <p:nvSpPr>
          <p:cNvPr id="8" name="Shape 6"/>
          <p:cNvSpPr/>
          <p:nvPr/>
        </p:nvSpPr>
        <p:spPr>
          <a:xfrm>
            <a:off x="5364328" y="4069080"/>
            <a:ext cx="1463040" cy="0"/>
          </a:xfrm>
          <a:prstGeom prst="line">
            <a:avLst/>
          </a:prstGeom>
          <a:noFill/>
          <a:ln w="25400">
            <a:solidFill>
              <a:srgbClr val="E0A82E"/>
            </a:solidFill>
            <a:prstDash val="solid"/>
          </a:ln>
        </p:spPr>
      </p:sp>
      <p:sp>
        <p:nvSpPr>
          <p:cNvPr id="9" name="Text 7"/>
          <p:cNvSpPr/>
          <p:nvPr/>
        </p:nvSpPr>
        <p:spPr>
          <a:xfrm>
            <a:off x="0" y="4251960"/>
            <a:ext cx="12191695"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Sujal Gautam</a:t>
            </a:r>
            <a:endParaRPr lang="en-US" sz="1600" dirty="0"/>
          </a:p>
        </p:txBody>
      </p:sp>
      <p:sp>
        <p:nvSpPr>
          <p:cNvPr id="10" name="Text 8"/>
          <p:cNvSpPr/>
          <p:nvPr/>
        </p:nvSpPr>
        <p:spPr>
          <a:xfrm>
            <a:off x="0" y="4590288"/>
            <a:ext cx="12191695" cy="320040"/>
          </a:xfrm>
          <a:prstGeom prst="rect">
            <a:avLst/>
          </a:prstGeom>
          <a:noFill/>
          <a:ln/>
        </p:spPr>
        <p:txBody>
          <a:bodyPr wrap="square" lIns="0" tIns="0" rIns="0" bIns="0" rtlCol="0" anchor="ctr"/>
          <a:lstStyle/>
          <a:p>
            <a:pPr algn="ctr" indent="0" marL="0">
              <a:buNone/>
            </a:pPr>
            <a:r>
              <a:rPr lang="en-US" sz="1200" dirty="0">
                <a:solidFill>
                  <a:srgbClr val="CADCFC"/>
                </a:solidFill>
                <a:latin typeface="Calibri" pitchFamily="34" charset="0"/>
                <a:ea typeface="Calibri" pitchFamily="34" charset="-122"/>
                <a:cs typeface="Calibri" pitchFamily="34" charset="-120"/>
              </a:rPr>
              <a:t>Roll No. 2410031651  |  IILM University, Greater Noida</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2026-08-30T13:20:17Z</dcterms:created>
  <dcterms:modified xsi:type="dcterms:W3CDTF">2026-08-30T13:20:17Z</dcterms:modified>
</cp:coreProperties>
</file>